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Ich stelle euch heute mein Abschlussprojekt vor. Es geht um die</a:t>
            </a:r>
          </a:p>
          <a:p>
            <a:r>
              <a:t>Volkshochschule Frankfurt und um einen Prozess, den man leicht übersieht:</a:t>
            </a:r>
          </a:p>
          <a:p>
            <a:r>
              <a:t>das Schreiben von Kursbeschreibungen.</a:t>
            </a:r>
          </a:p>
          <a:p/>
          <a:p>
            <a:r>
              <a:t>Der Titel ist der Befund, mit dem alles angefangen hat. Die Volkshochschule</a:t>
            </a:r>
          </a:p>
          <a:p>
            <a:r>
              <a:t>bietet Deutschkurse für Menschen an, die gerade erst Deutsch lernen. Und die</a:t>
            </a:r>
          </a:p>
          <a:p>
            <a:r>
              <a:t>Beschreibungen dieser Kurse sind in einem Deutsch geschrieben, das man erst</a:t>
            </a:r>
          </a:p>
          <a:p>
            <a:r>
              <a:t>nach dem Kurs versteht.</a:t>
            </a:r>
          </a:p>
          <a:p/>
          <a:p>
            <a:r>
              <a:t>Alle Zahlen, die ihr gleich seht, habe ich selbst gemessen, an der echten</a:t>
            </a:r>
          </a:p>
          <a:p>
            <a:r>
              <a:t>Website, am 28. Juli. Der Datensatz liegt der Arbeit bei.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Bevor ich ins Detail gehe, das Ganze in der Kurzfassung.</a:t>
            </a:r>
          </a:p>
          <a:p/>
          <a:p>
            <a:r>
              <a:t>Die Volkshochschule veröffentlicht rund fünftausendachthundert</a:t>
            </a:r>
          </a:p>
          <a:p>
            <a:r>
              <a:t>Kursbeschreibungen im Jahr. Diese Texte entstehen in acht Programmbereichen,</a:t>
            </a:r>
          </a:p>
          <a:p>
            <a:r>
              <a:t>und niemand prüft sie vor der Veröffentlichung darauf, ob die Zielgruppe sie</a:t>
            </a:r>
          </a:p>
          <a:p>
            <a:r>
              <a:t>versteht.</a:t>
            </a:r>
          </a:p>
          <a:p/>
          <a:p>
            <a:r>
              <a:t>Ich habe eine Stichprobe von sechzig Kursen gezogen. Neun von zehn Texten</a:t>
            </a:r>
          </a:p>
          <a:p>
            <a:r>
              <a:t>haben mindestens einen Befund. Der wichtigste: Bei Deutschkursen liegt die</a:t>
            </a:r>
          </a:p>
          <a:p>
            <a:r>
              <a:t>Beschreibung sprachlich über dem Niveau, das der Kurs erst vermitteln soll.</a:t>
            </a:r>
          </a:p>
          <a:p/>
          <a:p>
            <a:r>
              <a:t>Mein Vorschlag ist ein System-Prompt, der jeden Text gegen die Zielgruppe</a:t>
            </a:r>
          </a:p>
          <a:p>
            <a:r>
              <a:t>genau dieses Kurses prüft. Das Besondere daran: Die technische Grundlage</a:t>
            </a:r>
          </a:p>
          <a:p>
            <a:r>
              <a:t>existiert bereits, der Volkshochschul-Verband hat einen datenschutzkonformen</a:t>
            </a:r>
          </a:p>
          <a:p>
            <a:r>
              <a:t>KI-Rahmen für alle Volkshochschulen. Es muss nichts beschafft werden.</a:t>
            </a:r>
          </a:p>
          <a:p/>
          <a:p>
            <a:r>
              <a:t>Und eine Abgrenzung, die mir wichtig ist: Für die technische Barrierefreiheit</a:t>
            </a:r>
          </a:p>
          <a:p>
            <a:r>
              <a:t>bleibt ein normales Prüfwerkzeug zuständig. Die KI übernimmt nur den Teil, der</a:t>
            </a:r>
          </a:p>
          <a:p>
            <a:r>
              <a:t>Urteil verlangt.</a:t>
            </a:r>
          </a:p>
          <a:p/>
          <a:p>
            <a:r>
              <a:t>Der Satz unten ist das Leitprinzip: Der Prompt schlägt vor, der Mensch</a:t>
            </a:r>
          </a:p>
          <a:p>
            <a:r>
              <a:t>entscheidet.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Zunächst das Unternehmen.</a:t>
            </a:r>
          </a:p>
          <a:p/>
          <a:p>
            <a:r>
              <a:t>Die Volkshochschule Frankfurt ist kein Amt, sondern ein Eigenbetrieb der</a:t>
            </a:r>
          </a:p>
          <a:p>
            <a:r>
              <a:t>Stadt nach dem Eigenbetriebsgesetz. Sie wird kaufmännisch geführt, hat ein</a:t>
            </a:r>
          </a:p>
          <a:p>
            <a:r>
              <a:t>Stammkapital und einen Wirtschaftsplan. Geleitet wird sie von einem Direktor,</a:t>
            </a:r>
          </a:p>
          <a:p>
            <a:r>
              <a:t>der laut Impressum auch persönlich für die redaktionellen Inhalte der Website</a:t>
            </a:r>
          </a:p>
          <a:p>
            <a:r>
              <a:t>verantwortlich ist. Das ist für mein Projekt nicht unwichtig.</a:t>
            </a:r>
          </a:p>
          <a:p/>
          <a:p>
            <a:r>
              <a:t>Darüber steht eine Betriebskommission mit sechzehn Mitgliedern: Stadtverordnete,</a:t>
            </a:r>
          </a:p>
          <a:p>
            <a:r>
              <a:t>Magistratsmitglieder und zwei Vertretungen des Personalrats. Diese zwei Sitze</a:t>
            </a:r>
          </a:p>
          <a:p>
            <a:r>
              <a:t>werden später noch eine Rolle spielen.</a:t>
            </a:r>
          </a:p>
          <a:p/>
          <a:p>
            <a:r>
              <a:t>Achtzehnhundertneunzig gegründet, größte öffentliche Weiterbildungseinrichtung</a:t>
            </a:r>
          </a:p>
          <a:p>
            <a:r>
              <a:t>Hessens, acht Programmbereiche, rund fünftausendachthundert Veranstaltungen im</a:t>
            </a:r>
          </a:p>
          <a:p>
            <a:r>
              <a:t>Jahr.</a:t>
            </a:r>
          </a:p>
          <a:p/>
          <a:p>
            <a:r>
              <a:t>Der Satz unten stammt wörtlich aus der Betriebssatzung. Die Angebote stehen</a:t>
            </a:r>
          </a:p>
          <a:p>
            <a:r>
              <a:t>grundsätzlich allen offen, ohne Rücksicht auf Vorbildung. Daran messe ich das</a:t>
            </a:r>
          </a:p>
          <a:p>
            <a:r>
              <a:t>Haus im Folgenden. Nicht am Gesetz, sondern an seinem eigenen Anspruch.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Jetzt die Ist-Analyse. Der Prozess hat vier Schritte.</a:t>
            </a:r>
          </a:p>
          <a:p/>
          <a:p>
            <a:r>
              <a:t>Erstens: Die Programmbereichsleitung plant den Kurs und sucht eine Kursleitung.</a:t>
            </a:r>
          </a:p>
          <a:p>
            <a:r>
              <a:t>Zweitens: Der Beschreibungstext entsteht, häufig liefert die Kursleitung ihn zu.</a:t>
            </a:r>
          </a:p>
          <a:p>
            <a:r>
              <a:t>Drittens: Der Text wird ins Kursverwaltungssystem eingepflegt. Viertens: Er</a:t>
            </a:r>
          </a:p>
          <a:p>
            <a:r>
              <a:t>erscheint im Portal, im zweihundertvierzig Seiten starken Programmheft und im</a:t>
            </a:r>
          </a:p>
          <a:p>
            <a:r>
              <a:t>Newsletter.</a:t>
            </a:r>
          </a:p>
          <a:p/>
          <a:p>
            <a:r>
              <a:t>Und jetzt der entscheidende Punkt: Zwischen Schritt drei und vier passiert</a:t>
            </a:r>
          </a:p>
          <a:p>
            <a:r>
              <a:t>nichts. Es gibt keine Prüfstufe für Verständlichkeit.</a:t>
            </a:r>
          </a:p>
          <a:p/>
          <a:p>
            <a:r>
              <a:t>Das ist ausdrücklich kein Vorwurf. Es ist kein Arbeitsschritt, der irgendwo</a:t>
            </a:r>
          </a:p>
          <a:p>
            <a:r>
              <a:t>vorgesehen wäre. Genau deshalb ist es ein Fall für Prozessgestaltung und nicht</a:t>
            </a:r>
          </a:p>
          <a:p>
            <a:r>
              <a:t>für einen Appell, sich mehr Mühe zu geben.</a:t>
            </a:r>
          </a:p>
          <a:p/>
          <a:p>
            <a:r>
              <a:t>Zwei Einschränkungen, die ich offenlege: Den genauen Redaktionsablauf der vhs</a:t>
            </a:r>
          </a:p>
          <a:p>
            <a:r>
              <a:t>Frankfurt konnte ich nicht belegen, es gibt dazu keine öffentliche</a:t>
            </a:r>
          </a:p>
          <a:p>
            <a:r>
              <a:t>Dokumentation. Was ihr seht, ist die branchenübliche Rollenverteilung aus</a:t>
            </a:r>
          </a:p>
          <a:p>
            <a:r>
              <a:t>Stellenausschreibungen von Volkshochschulverbänden. Das ist eine begründete</a:t>
            </a:r>
          </a:p>
          <a:p>
            <a:r>
              <a:t>Annahme, keine Messung.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Damit zur Potenzialermittlung. Und hier wird es konkret, denn ich habe nicht</a:t>
            </a:r>
          </a:p>
          <a:p>
            <a:r>
              <a:t>geschätzt, sondern gemessen.</a:t>
            </a:r>
          </a:p>
          <a:p/>
          <a:p>
            <a:r>
              <a:t>Das Kursportal der vhs hat eine offene Schnittstelle. Darüber habe ich eine</a:t>
            </a:r>
          </a:p>
          <a:p>
            <a:r>
              <a:t>Stichprobe von sechzig Kursbeschreibungen aus sieben der acht Programmbereiche</a:t>
            </a:r>
          </a:p>
          <a:p>
            <a:r>
              <a:t>gezogen und automatisch ausgewertet. Der Datensatz liegt der Arbeit bei, jede</a:t>
            </a:r>
          </a:p>
          <a:p>
            <a:r>
              <a:t>Zahl ist nachrechenbar.</a:t>
            </a:r>
          </a:p>
          <a:p/>
          <a:p>
            <a:r>
              <a:t>Neunzig Prozent der Texte haben mindestens einen Befund. Fünfundfünfzig Prozent</a:t>
            </a:r>
          </a:p>
          <a:p>
            <a:r>
              <a:t>enthalten Abkürzungen, die nirgends erklärt werden. Die Hälfte hat mindestens</a:t>
            </a:r>
          </a:p>
          <a:p>
            <a:r>
              <a:t>einen Satz mit über fünfundzwanzig Wörtern, der längste hat</a:t>
            </a:r>
          </a:p>
          <a:p>
            <a:r>
              <a:t>vierundsiebzig Wörter.</a:t>
            </a:r>
          </a:p>
          <a:p/>
          <a:p>
            <a:r>
              <a:t>Sechs von sechzig Texten waren ohne jeden Befund.</a:t>
            </a:r>
          </a:p>
          <a:p/>
          <a:p>
            <a:r>
              <a:t>Ich sage gleich dazu, was diese Zahlen nicht sind: Sie sind kein Nachweis von</a:t>
            </a:r>
          </a:p>
          <a:p>
            <a:r>
              <a:t>Rechtsverstößen. Warum, zeige ich auf der übernächsten Folie.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Das hier ist der Befund, auf dem mein ganzes Projekt steht. Ich bitte um einen</a:t>
            </a:r>
          </a:p>
          <a:p>
            <a:r>
              <a:t>Moment Aufmerksamkeit, weil er auf den ersten Blick unscheinbar aussieht.</a:t>
            </a:r>
          </a:p>
          <a:p/>
          <a:p>
            <a:r>
              <a:t>Oben ein Englischkurs auf Stufe A1, unten ein Deutschkurs auf Stufe A2.</a:t>
            </a:r>
          </a:p>
          <a:p/>
          <a:p>
            <a:r>
              <a:t>Der Englischkurs hat eine Beschreibung mit durchschnittlich einundzwanzig</a:t>
            </a:r>
          </a:p>
          <a:p>
            <a:r>
              <a:t>Wörtern pro Satz, der längste Satz hat einundvierzig. Der Deutschkurs hat</a:t>
            </a:r>
          </a:p>
          <a:p>
            <a:r>
              <a:t>knapp elf Wörter pro Satz, der längste sechzehn.</a:t>
            </a:r>
          </a:p>
          <a:p/>
          <a:p>
            <a:r>
              <a:t>Ein Lesbarkeitsindex, ein Textprüfprogramm oder ein Standard-KI-Assistent</a:t>
            </a:r>
          </a:p>
          <a:p>
            <a:r>
              <a:t>würde jetzt den Englischkurs beanstanden und den Deutschkurs durchwinken. Und</a:t>
            </a:r>
          </a:p>
          <a:p>
            <a:r>
              <a:t>das ist genau falsch herum.</a:t>
            </a:r>
          </a:p>
          <a:p/>
          <a:p>
            <a:r>
              <a:t>Denn der Englischkurs richtet sich an Menschen, die fließend Deutsch lesen. Für</a:t>
            </a:r>
          </a:p>
          <a:p>
            <a:r>
              <a:t>die ist ein langer Satz unschön, aber kein Hindernis. Der Deutschkurs richtet</a:t>
            </a:r>
          </a:p>
          <a:p>
            <a:r>
              <a:t>sich an Menschen, die Deutsch auf A2-Niveau lesen. Für die ist jedes Wort</a:t>
            </a:r>
          </a:p>
          <a:p>
            <a:r>
              <a:t>oberhalb dieses Niveaus eine Hürde.</a:t>
            </a:r>
          </a:p>
          <a:p/>
          <a:p>
            <a:r>
              <a:t>Und deshalb reicht kein Werkzeug, das nur den Text ansieht. Man muss wissen,</a:t>
            </a:r>
          </a:p>
          <a:p>
            <a:r>
              <a:t>für wen der Text ist. Neun von dreizehn Kursen für Deutschlernende enthalten</a:t>
            </a:r>
          </a:p>
          <a:p>
            <a:r>
              <a:t>Wörter wie Selbsteinschätzung, Fehleinschätzung und Umbuchung. Das ist</a:t>
            </a:r>
          </a:p>
          <a:p>
            <a:r>
              <a:t>C1-Vokabular über einem A2-Kurs.</a:t>
            </a:r>
          </a:p>
          <a:p/>
          <a:p>
            <a:r>
              <a:t>Das ist der Punkt, an dem ein fachlich eingestellter Prompt etwas kann, was ein</a:t>
            </a:r>
          </a:p>
          <a:p>
            <a:r>
              <a:t>Standardwerkzeug nicht kann.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Diese Folie habe ich eingebaut, weil ich beim Recherchieren selbst falsch lag</a:t>
            </a:r>
          </a:p>
          <a:p>
            <a:r>
              <a:t>und die Korrektur das Projekt verbessert hat.</a:t>
            </a:r>
          </a:p>
          <a:p/>
          <a:p>
            <a:r>
              <a:t>Für die vhs als kommunale Einrichtung in Hessen gilt Landesrecht, das</a:t>
            </a:r>
          </a:p>
          <a:p>
            <a:r>
              <a:t>Hessische Behindertengleichstellungsgesetz und die hessische Verordnung dazu.</a:t>
            </a:r>
          </a:p>
          <a:p>
            <a:r>
              <a:t>Verlangt wird die Konformitätsstufe AA.</a:t>
            </a:r>
          </a:p>
          <a:p/>
          <a:p>
            <a:r>
              <a:t>Und jetzt schaut euch die Tabelle an. Dass Struktur programmatisch bestimmbar</a:t>
            </a:r>
          </a:p>
          <a:p>
            <a:r>
              <a:t>sein muss, ist Stufe A, also Pflicht. Dass Textteile in anderen Sprachen</a:t>
            </a:r>
          </a:p>
          <a:p>
            <a:r>
              <a:t>ausgezeichnet werden, ist AA, also Pflicht.</a:t>
            </a:r>
          </a:p>
          <a:p/>
          <a:p>
            <a:r>
              <a:t>Aber: Dass Abkürzungen erklärt werden, ist Stufe AAA. Und dass das Leseniveau</a:t>
            </a:r>
          </a:p>
          <a:p>
            <a:r>
              <a:t>zur Zielgruppe passt, ist ebenfalls AAA. Beides ist also **nicht** verbindlich.</a:t>
            </a:r>
          </a:p>
          <a:p/>
          <a:p>
            <a:r>
              <a:t>Zwei Dinge lege ich offen. Erstens: Leichte Sprache ist für Kommunen in Hessen</a:t>
            </a:r>
          </a:p>
          <a:p>
            <a:r>
              <a:t>nicht verpflichtend, die Landesfachstelle sagt das ausdrücklich. Die vhs bietet</a:t>
            </a:r>
          </a:p>
          <a:p>
            <a:r>
              <a:t>ihre Rubrik Einfache Sprache freiwillig an. Zweitens: Das oft zitierte</a:t>
            </a:r>
          </a:p>
          <a:p>
            <a:r>
              <a:t>B2-Sprachniveau aus dem Barrierefreiheitsstärkungsgesetz gilt ausschließlich</a:t>
            </a:r>
          </a:p>
          <a:p>
            <a:r>
              <a:t>für Bankdienstleistungen.</a:t>
            </a:r>
          </a:p>
          <a:p/>
          <a:p>
            <a:r>
              <a:t>Ich könnte jetzt mit einem drohenden Bußgeld argumentieren. Das wäre bequem und</a:t>
            </a:r>
          </a:p>
          <a:p>
            <a:r>
              <a:t>es wäre falsch.</a:t>
            </a:r>
          </a:p>
          <a:p/>
          <a:p>
            <a:r>
              <a:t>Der ehrliche Satz ist der unten: Ausgerechnet die Kriterien, die den Zugang für</a:t>
            </a:r>
          </a:p>
          <a:p>
            <a:r>
              <a:t>Menschen mit geringer Vorbildung regeln, sind optional. Für die meisten</a:t>
            </a:r>
          </a:p>
          <a:p>
            <a:r>
              <a:t>Websites ist das vertretbar. Für ein Haus, dessen Satzung sagt, die Angebote</a:t>
            </a:r>
          </a:p>
          <a:p>
            <a:r>
              <a:t>stünden allen offen ohne Rücksicht auf Vorbildung, ist es das nicht.</a:t>
            </a:r>
          </a:p>
          <a:p/>
          <a:p>
            <a:r>
              <a:t>Ich argumentiere deshalb nicht mit dem Gesetz, sondern mit dem Auftrag.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Damit zur Lösung. Und die beginnt mit einer Abgrenzung, die ich für den</a:t>
            </a:r>
          </a:p>
          <a:p>
            <a:r>
              <a:t>wichtigsten Teil meines Konzepts halte.</a:t>
            </a:r>
          </a:p>
          <a:p/>
          <a:p>
            <a:r>
              <a:t>Es gibt zwei Sorten von Problemen, und sie brauchen zwei verschiedene</a:t>
            </a:r>
          </a:p>
          <a:p>
            <a:r>
              <a:t>Werkzeuge.</a:t>
            </a:r>
          </a:p>
          <a:p/>
          <a:p>
            <a:r>
              <a:t>Links das Regelhafte: Markup, Struktur, Kontraste. Dafür gibt es etablierte</a:t>
            </a:r>
          </a:p>
          <a:p>
            <a:r>
              <a:t>Prüfprogramme wie axe-core. Die sind kostenlos, laufen automatisch und liefern</a:t>
            </a:r>
          </a:p>
          <a:p>
            <a:r>
              <a:t>bei gleicher Eingabe immer dasselbe Ergebnis. Sie decken dreißig bis vierzig</a:t>
            </a:r>
          </a:p>
          <a:p>
            <a:r>
              <a:t>Prozent der Kriterien ab. Adressat ist die städtische IT und der</a:t>
            </a:r>
          </a:p>
          <a:p>
            <a:r>
              <a:t>Portaldienstleister.</a:t>
            </a:r>
          </a:p>
          <a:p/>
          <a:p>
            <a:r>
              <a:t>Rechts das Urteilende: Ob ein A2-Lernender diesen Satz versteht. Ob dieser</a:t>
            </a:r>
          </a:p>
          <a:p>
            <a:r>
              <a:t>Linktext etwas aussagt. Dafür gibt es kein Regelwerk, das braucht Urteil.</a:t>
            </a:r>
          </a:p>
          <a:p>
            <a:r>
              <a:t>Adressat sind die Programmbereiche.</a:t>
            </a:r>
          </a:p>
          <a:p/>
          <a:p>
            <a:r>
              <a:t>Und jetzt der Satz, den ich bewusst so deutlich hinschreibe: Für alles</a:t>
            </a:r>
          </a:p>
          <a:p>
            <a:r>
              <a:t>Regelhafte ist ein Sprachmodell das schlechtere Werkzeug. Es ist langsamer,</a:t>
            </a:r>
          </a:p>
          <a:p>
            <a:r>
              <a:t>teurer und liefert nicht immer dasselbe Ergebnis. Wer behauptet, eine KI</a:t>
            </a:r>
          </a:p>
          <a:p>
            <a:r>
              <a:t>ersetze axe-core, hat entweder das eine oder das andere nicht verstanden.</a:t>
            </a:r>
          </a:p>
          <a:p/>
          <a:p>
            <a:r>
              <a:t>Mein Projekt betrifft ausschließlich die rechte Spalte. Die linke gehört ins</a:t>
            </a:r>
          </a:p>
          <a:p>
            <a:r>
              <a:t>Konzept, weil sie sonst niemand macht, aber sie ist kein KI-Thema.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Ich fasse zusammen.</a:t>
            </a:r>
          </a:p>
          <a:p/>
          <a:p>
            <a:r>
              <a:t>Ich habe ein reales Unternehmen analysiert, einen Prozess gefunden, in dem</a:t>
            </a:r>
          </a:p>
          <a:p>
            <a:r>
              <a:t>niemand etwas falsch macht und trotzdem etwas fehlt, und ich habe den Zustand</a:t>
            </a:r>
          </a:p>
          <a:p>
            <a:r>
              <a:t>gemessen statt geschätzt.</a:t>
            </a:r>
          </a:p>
          <a:p/>
          <a:p>
            <a:r>
              <a:t>Der System-Prompt selbst, das ist meine eigentliche Lehre aus diesem Projekt,</a:t>
            </a:r>
          </a:p>
          <a:p>
            <a:r>
              <a:t>ist an einem Nachmittag geschrieben. Die Arbeit steckt in allem, was ihn</a:t>
            </a:r>
          </a:p>
          <a:p>
            <a:r>
              <a:t>möglich macht: zu wissen, für wen ein Text ist, zu wissen, was Pflicht ist und</a:t>
            </a:r>
          </a:p>
          <a:p>
            <a:r>
              <a:t>was Anspruch, und einen Weg zu finden, auf dem die Menschen, die diese Texte</a:t>
            </a:r>
          </a:p>
          <a:p>
            <a:r>
              <a:t>schreiben, das Werkzeug nicht als Kontrolle erleben.</a:t>
            </a:r>
          </a:p>
          <a:p/>
          <a:p>
            <a:r>
              <a:t>Vielen Dank. Gerne eure Fragen.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li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li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li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li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li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li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li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li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li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