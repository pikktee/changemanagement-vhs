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als Aufsichtsgremium.</a:t>
            </a:r>
          </a:p>
          <a:p>
            <a:r>
              <a:rPr i="0"/>
              <a:t>- </a:t>
            </a:r>
            <a:r>
              <a:rPr b="1" i="0"/>
              <a:t>Der Volkshochschul-Verband</a:t>
            </a:r>
            <a:r>
              <a:rPr i="0"/>
              <a:t> — stellt den KI-Zugang.</a:t>
            </a:r>
          </a:p>
          <a:p/>
          <a:p>
            <a:r>
              <a:rPr i="0"/>
              <a:t>### Unten rechts: Konsultieren</a:t>
            </a:r>
          </a:p>
          <a:p>
            <a:r>
              <a:rPr i="0"/>
              <a:t>- </a:t>
            </a:r>
            <a:r>
              <a:rPr b="1" i="0"/>
              <a:t>Die Kursleitungen auf Honorarbasis</a:t>
            </a:r>
            <a:r>
              <a:rPr i="0"/>
              <a:t> — oft kommt der Text von ihnen. Trotzdem sitzen sie in keinem Gremium, und vorschreiben kann man ihnen nichts.</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 den Widerständen.</a:t>
            </a:r>
          </a:p>
          <a:p/>
          <a:p>
            <a:r>
              <a:rPr i="0"/>
              <a:t>### Unsicherheit · im ganzen Haus</a:t>
            </a:r>
          </a:p>
          <a:p>
            <a:r>
              <a:rPr i="0"/>
              <a:t>- Die Frage, die als Erstes kommen könnte: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Textbausteine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Und eine Logik dahinter, eine Kette von Freigaben:</a:t>
            </a:r>
          </a:p>
          <a:p>
            <a:r>
              <a:rPr b="1" i="0">
                <a:solidFill>
                  <a:srgbClr val="A4162B"/>
                </a:solidFill>
              </a:rPr>
              <a:t>Ohne Dienstvereinbarung kein Setup, ohne Training kein Pilot, ohne Nachmessung kein Rollout.</a:t>
            </a:r>
          </a:p>
          <a:p>
            <a:r>
              <a:rPr i="0"/>
              <a:t>Ich gehe die Stränge einmal durch.</a:t>
            </a:r>
          </a:p>
          <a:p/>
          <a:p>
            <a:r>
              <a:rPr i="0"/>
              <a:t>### Technische Implementation</a:t>
            </a:r>
          </a:p>
          <a:p>
            <a:r>
              <a:rPr i="0"/>
              <a:t>- </a:t>
            </a:r>
            <a:r>
              <a:rPr b="1" i="0"/>
              <a:t>Setup:</a:t>
            </a:r>
            <a:r>
              <a:rPr i="0"/>
              <a:t> Der Assistent wird im bestehenden KI-Zugang des Verbands angelegt. Den Prompt schärfe ich im Prüfwerkzeug an echten Kurstexten — jeder Lauf wird protokolliert.</a:t>
            </a:r>
          </a:p>
          <a:p>
            <a:r>
              <a:rPr i="0"/>
              <a:t>- </a:t>
            </a:r>
            <a:r>
              <a:rPr b="1" i="0"/>
              <a:t>Pilot:</a:t>
            </a:r>
            <a:r>
              <a:rPr i="0"/>
              <a:t> Ein Fachbereich, nur neu entstehende Texte. Klein genug, um alle Beteiligten wirklich einzubinden.</a:t>
            </a:r>
          </a:p>
          <a:p>
            <a:r>
              <a:rPr i="0"/>
              <a:t>- </a:t>
            </a:r>
            <a:r>
              <a:rPr b="1" i="0"/>
              <a:t>Rollout:</a:t>
            </a:r>
            <a:r>
              <a:rPr i="0"/>
              <a:t> Wird nur vorbereitet. </a:t>
            </a:r>
            <a:r>
              <a:rPr b="1" i="0">
                <a:solidFill>
                  <a:srgbClr val="A4162B"/>
                </a:solidFill>
              </a:rPr>
              <a:t>Ob er kommt, entscheidet die Nachmessung — nicht der Kalender.</a:t>
            </a:r>
          </a:p>
          <a:p/>
          <a:p>
            <a:r>
              <a:rPr i="0"/>
              <a:t>### Kommunikation</a:t>
            </a:r>
          </a:p>
          <a:p>
            <a:r>
              <a:rPr i="0"/>
              <a:t>- </a:t>
            </a:r>
            <a:r>
              <a:rPr b="1" i="0"/>
              <a:t>Ankündigung:</a:t>
            </a:r>
            <a:r>
              <a:rPr i="0"/>
              <a:t> Erst die Dienstvereinbarung mit dem Personalrat, dann die Bekanntgabe im Haus — in dieser Reihenfolge, sonst verhandelt man öffentlich.</a:t>
            </a:r>
          </a:p>
          <a:p>
            <a:r>
              <a:rPr i="0"/>
              <a:t>- </a:t>
            </a:r>
            <a:r>
              <a:rPr b="1" i="0"/>
              <a:t>Training:</a:t>
            </a:r>
            <a:r>
              <a:rPr i="0"/>
              <a:t> Kein KI-Grundlagenkurs, sondern eine Schulung am konkreten System, bevor der erste Text geprüft wird. Pflicht ist sie ohnehin: </a:t>
            </a:r>
            <a:r>
              <a:rPr b="1" i="0"/>
              <a:t>Artikel 4 der KI-Verordnung</a:t>
            </a:r>
            <a:r>
              <a:rPr i="0"/>
              <a:t>, für alle, die bedienen. </a:t>
            </a:r>
            <a:r>
              <a:rPr i="1"/>
              <a:t>Wer nicht bedient, braucht keine Schulung — deshalb bleiben die Kursleitungen draußen.</a:t>
            </a:r>
          </a:p>
          <a:p>
            <a:r>
              <a:rPr i="0"/>
              <a:t>- </a:t>
            </a:r>
            <a:r>
              <a:rPr b="1" i="0"/>
              <a:t>Support:</a:t>
            </a:r>
            <a:r>
              <a:rPr i="0"/>
              <a:t> Eine feste Sprechstunde statt Zuruf. Sie senkt die Schwelle zu fragen, hält den Aufwand planbar — und dieselbe Frage dreimal in einer Stunde ist ein Befund am Prompt oder an der Schulung.</a:t>
            </a:r>
          </a:p>
          <a:p/>
          <a:p>
            <a:r>
              <a:rPr i="0"/>
              <a:t>### Change</a:t>
            </a:r>
          </a:p>
          <a:p>
            <a:r>
              <a:rPr i="0"/>
              <a:t>- </a:t>
            </a:r>
            <a:r>
              <a:rPr b="1" i="0"/>
              <a:t>Vorbereitung:</a:t>
            </a:r>
            <a:r>
              <a:rPr i="0"/>
              <a:t> Den Pilotbereich gewinnen, nicht zuweisen. Die Betroffenen befragen, bevor etwas läuft. Und klären, wer die Textbausteine ändern darf — die zentral gepflegten Teile, die wortgleich in vielen Kursen stehen. </a:t>
            </a:r>
            <a:r>
              <a:rPr i="1"/>
              <a:t>Das war die Verlustangst von der Widerstandsfolie.</a:t>
            </a:r>
          </a:p>
          <a:p>
            <a:r>
              <a:rPr i="0"/>
              <a:t>- </a:t>
            </a:r>
            <a:r>
              <a:rPr b="1" i="0"/>
              <a:t>Einbindung:</a:t>
            </a:r>
            <a:r>
              <a:rPr i="0"/>
              <a:t> Der Bereich wählt selbst, welche Regeln verbindlich gelten. Und er korrigiert die Textbausteine zuerst: </a:t>
            </a:r>
            <a:r>
              <a:rPr b="1" i="0">
                <a:solidFill>
                  <a:srgbClr val="A4162B"/>
                </a:solidFill>
              </a:rPr>
              <a:t>Ein korrigierter Textbaustein wirkt sofort in allen Kursen, die ihn verwenden.</a:t>
            </a:r>
          </a:p>
          <a:p>
            <a:r>
              <a:rPr i="0"/>
              <a:t>- </a:t>
            </a:r>
            <a:r>
              <a:rPr b="1" i="0"/>
              <a:t>Begleitung:</a:t>
            </a:r>
            <a:r>
              <a:rPr i="0"/>
              <a:t> Die Nachmessung, mit demselben Skript wie die Ausgangsmessung — sonst weiß man nicht, ob die Texte besser wurden oder nur die Messung anders. Danach fällt die Rollout-Entscheidung.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Das war der Plan für drei Monate — das hier ist sein erster Monat im Detail.</a:t>
            </a:r>
          </a:p>
          <a:p>
            <a:r>
              <a:rPr i="0"/>
              <a:t>Keine Aufzählung, sondern eine Reihenfolge: </a:t>
            </a:r>
            <a:r>
              <a:rPr b="1" i="0">
                <a:solidFill>
                  <a:srgbClr val="A4162B"/>
                </a:solidFill>
              </a:rPr>
              <a:t>Jeder Schritt bedingt den nächsten.</a:t>
            </a:r>
          </a:p>
          <a:p/>
          <a:p>
            <a:r>
              <a:rPr i="0"/>
              <a:t>### Schritt eins: die Dienstvereinbarung</a:t>
            </a:r>
          </a:p>
          <a:p>
            <a:r>
              <a:rPr i="0"/>
              <a:t>- Zuerst die </a:t>
            </a:r>
            <a:r>
              <a:rPr b="1" i="0"/>
              <a:t>Dienstvereinbarung</a:t>
            </a:r>
            <a:r>
              <a:rPr i="0"/>
              <a:t> mit dem Personalrat — er ist der Einzige, der das Projekt anhalten kann, die Einführung ist mitbestimmungspflichtig.</a:t>
            </a:r>
          </a:p>
          <a:p>
            <a:r>
              <a:rPr i="0"/>
              <a:t>- Vorher wird nichts angelegt, auch nicht „nur zum Ausprobieren“. </a:t>
            </a:r>
            <a:r>
              <a:rPr i="1"/>
              <a:t>Ein Assistent, der schon läuft, während noch verhandelt wird, kostet genau das Vertrauen, von dem der Pilot lebt.</a:t>
            </a:r>
          </a:p>
          <a:p/>
          <a:p>
            <a:r>
              <a:rPr i="0"/>
              <a:t>### Schritt zwei: den Pilotbereich gewinnen</a:t>
            </a:r>
          </a:p>
          <a:p>
            <a:r>
              <a:rPr i="0"/>
              <a:t>- Einen </a:t>
            </a:r>
            <a:r>
              <a:rPr b="1" i="0"/>
              <a:t>Fachbereich</a:t>
            </a:r>
            <a:r>
              <a:rPr i="0"/>
              <a:t> gewinnen, nicht zuweisen. Freiwillig deshalb, weil ein zugewiesener Pilot Erfüllung liefert, kein Ergebnis.</a:t>
            </a:r>
          </a:p>
          <a:p>
            <a:r>
              <a:rPr i="0"/>
              <a:t>- Der Bereich, der sich meldet, bekommt dafür etwas: Er wählt im zweiten Monat selbst, welche Regeln verbindlich gelten.</a:t>
            </a:r>
          </a:p>
          <a:p/>
          <a:p>
            <a:r>
              <a:rPr i="0"/>
              <a:t>### Schritt drei: die Freigabe der Textbausteine</a:t>
            </a:r>
          </a:p>
          <a:p>
            <a:r>
              <a:rPr i="0"/>
              <a:t>- Klären, wer die zentral gepflegten </a:t>
            </a:r>
            <a:r>
              <a:rPr b="1" i="0"/>
              <a:t>Textbausteine</a:t>
            </a:r>
            <a:r>
              <a:rPr i="0"/>
              <a:t> ändern darf — die Teile, die wortgleich in vielen Kursen stehen.</a:t>
            </a:r>
          </a:p>
          <a:p>
            <a:r>
              <a:rPr i="0"/>
              <a:t>- Das ist der Schritt, den man am ehesten überspringt, und der teuerste: Lässt man ihn aus, liefert der Pilot eine Liste von Befunden, die im Pilotbereich niemand ändern darf.</a:t>
            </a:r>
          </a:p>
          <a:p>
            <a:r>
              <a:rPr i="0"/>
              <a:t>- </a:t>
            </a:r>
            <a:r>
              <a:rPr b="1" i="0">
                <a:solidFill>
                  <a:srgbClr val="A4162B"/>
                </a:solidFill>
              </a:rPr>
              <a:t>Das Werkzeug hätte sich dann beim ersten Durchlauf selbst erledigt.</a:t>
            </a:r>
            <a:r>
              <a:rPr i="0"/>
              <a:t> Das sagt auch der Kasten unten.</a:t>
            </a:r>
          </a:p>
          <a:p/>
          <a:p>
            <a:r>
              <a:rPr i="0"/>
              <a:t>### Schritt vier: der Assistent</a:t>
            </a:r>
          </a:p>
          <a:p>
            <a:r>
              <a:rPr i="0"/>
              <a:t>- Erst als Letztes das Technische: den </a:t>
            </a:r>
            <a:r>
              <a:rPr b="1" i="0"/>
              <a:t>Assistenten anlegen</a:t>
            </a:r>
            <a:r>
              <a:rPr i="0"/>
              <a:t>. Das kostet nichts — kein Einkauf, keine neue Stelle, der KI-Zugang des Verbands ist da.</a:t>
            </a:r>
          </a:p>
          <a:p>
            <a:r>
              <a:rPr i="0"/>
              <a:t>- Dass der technische Schritt der letzte und der billigste ist, ist die Pointe dieser Folie: </a:t>
            </a:r>
            <a:r>
              <a:rPr b="1" i="0">
                <a:solidFill>
                  <a:srgbClr val="A4162B"/>
                </a:solidFill>
              </a:rPr>
              <a:t>Die Arbeit liegt nicht in der Technik, sondern in den Zuständigkeiten davor.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