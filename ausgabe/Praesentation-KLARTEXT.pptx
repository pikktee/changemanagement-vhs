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als Aufsichtsgremium.</a:t>
            </a:r>
          </a:p>
          <a:p>
            <a:r>
              <a:rPr i="0"/>
              <a:t>- </a:t>
            </a:r>
            <a:r>
              <a:rPr b="1" i="0"/>
              <a:t>Der Volkshochschul-Verband</a:t>
            </a:r>
            <a:r>
              <a:rPr i="0"/>
              <a:t> — stellt den KI-Zugang.</a:t>
            </a:r>
          </a:p>
          <a:p/>
          <a:p>
            <a:r>
              <a:rPr i="0"/>
              <a:t>### Unten rechts: Konsultieren</a:t>
            </a:r>
          </a:p>
          <a:p>
            <a:r>
              <a:rPr i="0"/>
              <a:t>- </a:t>
            </a:r>
            <a:r>
              <a:rPr b="1" i="0"/>
              <a:t>Die Kursleitungen auf Honorarbasis</a:t>
            </a:r>
            <a:r>
              <a:rPr i="0"/>
              <a:t> — oft kommt der Text von ihnen. Trotzdem sitzen sie in keinem Gremium, und vorschreiben kann man ihnen nichts.</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 den Widerständen.</a:t>
            </a:r>
          </a:p>
          <a:p/>
          <a:p>
            <a:r>
              <a:rPr i="0"/>
              <a:t>### Unsicherheit · im ganzen Haus</a:t>
            </a:r>
          </a:p>
          <a:p>
            <a:r>
              <a:rPr i="0"/>
              <a:t>- Die Frage, die als Erstes kommen könnte: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Textbausteine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 Technik, Kommunikation, Change —,</a:t>
            </a:r>
          </a:p>
          <a:p>
            <a:r>
              <a:rPr i="0"/>
              <a:t>die neun Phasen aus der Aufgabenstellung als Überschrift jeder Zelle. Die</a:t>
            </a:r>
          </a:p>
          <a:p>
            <a:r>
              <a:rPr i="0"/>
              <a:t>Zellen könnt ihr mitlesen, ich erkläre die Logik dahinter.</a:t>
            </a:r>
          </a:p>
          <a:p/>
          <a:p>
            <a:r>
              <a:rPr i="0"/>
              <a:t>### Die Logik: eine Kette von Freigaben</a:t>
            </a:r>
          </a:p>
          <a:p>
            <a:r>
              <a:rPr i="0"/>
              <a:t>- Dieser Plan ist keine Abfolge von Terminen, sondern eine Kette von Freigaben. Jeder Monat gibt den nächsten erst frei.</a:t>
            </a:r>
          </a:p>
          <a:p>
            <a:r>
              <a:rPr i="0"/>
              <a:t>- </a:t>
            </a:r>
            <a:r>
              <a:rPr b="1" i="0">
                <a:solidFill>
                  <a:srgbClr val="A4162B"/>
                </a:solidFill>
              </a:rPr>
              <a:t>Ohne Dienstvereinbarung kein Setup, ohne Training kein Pilot, ohne Nachmessung kein Rollout.</a:t>
            </a:r>
          </a:p>
          <a:p>
            <a:r>
              <a:rPr i="0"/>
              <a:t>- Deshalb wird der Rollout im dritten Monat nur vorbereitet. Ob er kommt, entscheidet die Nachmessung — nicht der Kalender. </a:t>
            </a:r>
            <a:r>
              <a:rPr i="1"/>
              <a:t>Ein Plan, der das Nein am Ende nicht vorsieht, wäre keiner.</a:t>
            </a:r>
          </a:p>
          <a:p/>
          <a:p>
            <a:r>
              <a:rPr i="0"/>
              <a:t>### Technik-Strang: die Rolle des Prüfwerkzeugs</a:t>
            </a:r>
          </a:p>
          <a:p>
            <a:r>
              <a:rPr i="0"/>
              <a:t>- Das Setup im ersten Monat ist bewusst klein: Der Assistent wird im bestehenden KI-Zugang des Verbands angelegt — kein Einkauf, keine neue Stelle.</a:t>
            </a:r>
          </a:p>
          <a:p>
            <a:r>
              <a:rPr i="0"/>
              <a:t>- Geschärft wird der Prompt im eigenen Prüfwerkzeug, dem von eben: Es holt echte Kurstexte selbst und protokolliert jeden Lauf.</a:t>
            </a:r>
          </a:p>
          <a:p>
            <a:r>
              <a:rPr i="0"/>
              <a:t>- Im Pilot stehen dann beide Wege offen: der Assistent für den Fachbereich, daneben das Prüfwerkzeug. </a:t>
            </a:r>
            <a:r>
              <a:rPr i="1"/>
              <a:t>Dort laufen Namensschutz und die Korrektur der Einstufung im Code mit.</a:t>
            </a:r>
          </a:p>
          <a:p/>
          <a:p>
            <a:r>
              <a:rPr i="0"/>
              <a:t>### Monat 2, Kommunikation: Training</a:t>
            </a:r>
          </a:p>
          <a:p>
            <a:r>
              <a:rPr i="0"/>
              <a:t>- Kein KI-Grundlagenkurs, sondern eine Schulung am konkreten System: einen Kurstext prüfen lassen, die Befunde lesen, annehmen oder verwerfen — und die Grenze kennen: </a:t>
            </a:r>
            <a:r>
              <a:rPr b="1" i="0">
                <a:solidFill>
                  <a:srgbClr val="A4162B"/>
                </a:solidFill>
              </a:rPr>
              <a:t>Die KI schlägt vor, entschieden wird im Fachbereich.</a:t>
            </a:r>
          </a:p>
          <a:p>
            <a:r>
              <a:rPr i="0"/>
              <a:t>- Verpflichtend ist das ohnehin: </a:t>
            </a:r>
            <a:r>
              <a:rPr b="1" i="0"/>
              <a:t>Artikel 4 der KI-Verordnung</a:t>
            </a:r>
            <a:r>
              <a:rPr i="0"/>
              <a:t> verlangt seit Februar 2025 ausreichende KI-Kompetenz — ausdrücklich bezogen auf den Einsatzkontext. Genau das leistet eine Schulung am Werkzeug selbst, kein Foliensatz über KI im Allgemeinen.</a:t>
            </a:r>
          </a:p>
          <a:p>
            <a:r>
              <a:rPr i="0"/>
              <a:t>- Die Pflicht gilt für das Personal und für alle, die im Auftrag mit Betrieb und Nutzung befasst sind. Deshalb steht in der Zelle nicht „Personal“, sondern „alle, die bedienen“. </a:t>
            </a:r>
            <a:r>
              <a:rPr i="1"/>
              <a:t>Wer nicht bedient, braucht die Schulung nicht — deshalb bleiben die Kursleitungen aus dieser Kette.</a:t>
            </a:r>
          </a:p>
          <a:p/>
          <a:p>
            <a:r>
              <a:rPr i="0"/>
              <a:t>### Monat 3, Kommunikation: warum eine feste Sprechstunde</a:t>
            </a:r>
          </a:p>
          <a:p>
            <a:r>
              <a:rPr i="0"/>
              <a:t>- Support auf Zuruf klingt großzügig und ist das Gegenteil: Wer fragen will, muss erst entscheiden, ob seine Frage eine Störung wert ist. Viele fragen dann gar nicht — und legen das Werkzeug leise weg.</a:t>
            </a:r>
          </a:p>
          <a:p>
            <a:r>
              <a:rPr i="0"/>
              <a:t>- Ein festes Fenster senkt diese Schwelle, und es macht den Aufwand planbar — ein Projektteam, das nebenbei erreichbar wäre, gibt es hier nicht.</a:t>
            </a:r>
          </a:p>
          <a:p>
            <a:r>
              <a:rPr i="0"/>
              <a:t>- Und: Dieselbe Frage dreimal in einer Sprechstunde ist ein Befund — am Prompt oder an der Schulung. Dreimal auf Zuruf verteilt, merkt das niemand.</a:t>
            </a:r>
          </a:p>
          <a:p/>
          <a:p>
            <a:r>
              <a:rPr i="0"/>
              <a:t>### Der Kasten unten: die Textbausteine</a:t>
            </a:r>
          </a:p>
          <a:p>
            <a:r>
              <a:rPr i="0"/>
              <a:t>- Was mit Textbausteinen gemeint ist: Textteile, die zentral gepflegt werden und wortgleich in vielen Kursbeschreibungen stehen — der Anmeldehinweis etwa, oder die Beschreibung der Niveaustufe.</a:t>
            </a:r>
          </a:p>
          <a:p>
            <a:r>
              <a:rPr i="0"/>
              <a:t>- Der Fachbereich, der die Befunde bekommt, darf genau diese Teile nicht ändern — das war die Verlustangst von der Widerstandsfolie. Beim Kernfall, dem Deutschkurs auf A2, ist das mehr als die halbe Beschreibung.</a:t>
            </a:r>
          </a:p>
          <a:p>
            <a:r>
              <a:rPr i="0"/>
              <a:t>- Warum zuerst? </a:t>
            </a:r>
            <a:r>
              <a:rPr b="1" i="0">
                <a:solidFill>
                  <a:srgbClr val="A4162B"/>
                </a:solidFill>
              </a:rPr>
              <a:t>Ein korrigierter Textbaustein wirkt sofort in allen Kursen, die ihn verwenden</a:t>
            </a:r>
            <a:r>
              <a:rPr i="0"/>
              <a:t> — der früheste sichtbare Erfolg, den dieses Projekt haben kann.</a:t>
            </a:r>
          </a:p>
          <a:p>
            <a:r>
              <a:rPr i="0"/>
              <a:t>- Deshalb das Fragen vor dem Handeln: Die Zuständigkeit wird im ersten Monat geklärt, korrigiert wird im zweiten. </a:t>
            </a:r>
            <a:r>
              <a:rPr i="1"/>
              <a:t>Ohne sie dürfte im zweiten Monat niemand einen Textbaustein anfassen.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Das war der Plan für drei Monate — das hier ist sein erster Monat im Detail.</a:t>
            </a:r>
          </a:p>
          <a:p>
            <a:r>
              <a:rPr i="0"/>
              <a:t>Keine Aufzählung, sondern eine Reihenfolge: </a:t>
            </a:r>
            <a:r>
              <a:rPr b="1" i="0">
                <a:solidFill>
                  <a:srgbClr val="A4162B"/>
                </a:solidFill>
              </a:rPr>
              <a:t>Jeder Schritt bedingt den nächsten.</a:t>
            </a:r>
          </a:p>
          <a:p/>
          <a:p>
            <a:r>
              <a:rPr i="0"/>
              <a:t>### Schritt eins: die Dienstvereinbarung</a:t>
            </a:r>
          </a:p>
          <a:p>
            <a:r>
              <a:rPr i="0"/>
              <a:t>- Zuerst die </a:t>
            </a:r>
            <a:r>
              <a:rPr b="1" i="0"/>
              <a:t>Dienstvereinbarung</a:t>
            </a:r>
            <a:r>
              <a:rPr i="0"/>
              <a:t> mit dem Personalrat — er ist der Einzige, der das Projekt anhalten kann, die Einführung ist mitbestimmungspflichtig.</a:t>
            </a:r>
          </a:p>
          <a:p>
            <a:r>
              <a:rPr i="0"/>
              <a:t>- Vorher wird nichts angelegt, auch nicht „nur zum Ausprobieren“. </a:t>
            </a:r>
            <a:r>
              <a:rPr i="1"/>
              <a:t>Ein Assistent, der schon läuft, während noch verhandelt wird, kostet genau das Vertrauen, von dem der Pilot lebt.</a:t>
            </a:r>
          </a:p>
          <a:p/>
          <a:p>
            <a:r>
              <a:rPr i="0"/>
              <a:t>### Schritt zwei: den Pilotbereich gewinnen</a:t>
            </a:r>
          </a:p>
          <a:p>
            <a:r>
              <a:rPr i="0"/>
              <a:t>- Einen </a:t>
            </a:r>
            <a:r>
              <a:rPr b="1" i="0"/>
              <a:t>Fachbereich</a:t>
            </a:r>
            <a:r>
              <a:rPr i="0"/>
              <a:t> gewinnen, nicht zuweisen. Freiwillig deshalb, weil ein zugewiesener Pilot Erfüllung liefert, kein Ergebnis.</a:t>
            </a:r>
          </a:p>
          <a:p>
            <a:r>
              <a:rPr i="0"/>
              <a:t>- Der Bereich, der sich meldet, bekommt dafür etwas: Er wählt im zweiten Monat selbst, welche Regeln verbindlich gelten.</a:t>
            </a:r>
          </a:p>
          <a:p/>
          <a:p>
            <a:r>
              <a:rPr i="0"/>
              <a:t>### Schritt drei: die Freigabe der Textbausteine</a:t>
            </a:r>
          </a:p>
          <a:p>
            <a:r>
              <a:rPr i="0"/>
              <a:t>- Klären, wer die zentral gepflegten </a:t>
            </a:r>
            <a:r>
              <a:rPr b="1" i="0"/>
              <a:t>Textbausteine</a:t>
            </a:r>
            <a:r>
              <a:rPr i="0"/>
              <a:t> ändern darf — die Teile, die wortgleich in vielen Kursen stehen.</a:t>
            </a:r>
          </a:p>
          <a:p>
            <a:r>
              <a:rPr i="0"/>
              <a:t>- Das ist der Schritt, den man am ehesten überspringt, und der teuerste: Lässt man ihn aus, liefert der Pilot eine Liste von Befunden, die im Pilotbereich niemand ändern darf.</a:t>
            </a:r>
          </a:p>
          <a:p>
            <a:r>
              <a:rPr i="0"/>
              <a:t>- </a:t>
            </a:r>
            <a:r>
              <a:rPr b="1" i="0">
                <a:solidFill>
                  <a:srgbClr val="A4162B"/>
                </a:solidFill>
              </a:rPr>
              <a:t>Das Werkzeug hätte sich dann beim ersten Durchlauf selbst erledigt.</a:t>
            </a:r>
            <a:r>
              <a:rPr i="0"/>
              <a:t> Das sagt auch der Kasten unten.</a:t>
            </a:r>
          </a:p>
          <a:p/>
          <a:p>
            <a:r>
              <a:rPr i="0"/>
              <a:t>### Schritt vier: der Assistent</a:t>
            </a:r>
          </a:p>
          <a:p>
            <a:r>
              <a:rPr i="0"/>
              <a:t>- Erst als Letztes das Technische: den </a:t>
            </a:r>
            <a:r>
              <a:rPr b="1" i="0"/>
              <a:t>Assistenten anlegen</a:t>
            </a:r>
            <a:r>
              <a:rPr i="0"/>
              <a:t>. Das kostet nichts — kein Einkauf, keine neue Stelle, der KI-Zugang des Verbands ist da.</a:t>
            </a:r>
          </a:p>
          <a:p>
            <a:r>
              <a:rPr i="0"/>
              <a:t>- Dass der technische Schritt der letzte und der billigste ist, ist die Pointe dieser Folie: </a:t>
            </a:r>
            <a:r>
              <a:rPr b="1" i="0">
                <a:solidFill>
                  <a:srgbClr val="A4162B"/>
                </a:solidFill>
              </a:rPr>
              <a:t>Die Arbeit liegt nicht in der Technik, sondern in den Zuständigkeiten davor.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