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Callout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Nochmal zur Abgrenzung</a:t>
            </a:r>
          </a:p>
          <a:p>
            <a:r>
              <a:rPr i="0"/>
              <a:t>- Was die Technik prüft, und wo KLARTEXT ansetzt.</a:t>
            </a:r>
          </a:p>
          <a:p/>
          <a:p>
            <a:r>
              <a:rPr i="0"/>
              <a:t>### </a:t>
            </a:r>
            <a:r>
              <a:rPr i="1"/>
              <a:t>Die Website</a:t>
            </a:r>
          </a:p>
          <a:p>
            <a:r>
              <a:rPr i="0"/>
              <a:t>- Was nicht zum Projekt gehört ist die technische Prüfung der Website als ganzes.</a:t>
            </a:r>
          </a:p>
          <a:p>
            <a:r>
              <a:rPr i="0"/>
              <a:t>- Also z.B. Kontraste, Tastaturbedienung, Seitentitel, Navigation.</a:t>
            </a:r>
          </a:p>
          <a:p>
            <a:r>
              <a:rPr i="0"/>
              <a:t>- Das ist prüfbar, ohne einen einzigen Kurs zu kennen.</a:t>
            </a:r>
          </a:p>
          <a:p>
            <a:r>
              <a:rPr i="0"/>
              <a:t>- Dafür gibt es etablierte Tools wie </a:t>
            </a:r>
            <a:r>
              <a:rPr b="1" i="0"/>
              <a:t>axe-core</a:t>
            </a:r>
            <a:r>
              <a:rPr i="0"/>
              <a:t>. Zuständig ist hier die städtische IT.</a:t>
            </a:r>
          </a:p>
          <a:p/>
          <a:p>
            <a:r>
              <a:rPr i="0"/>
              <a:t>### Der einzelne Text</a:t>
            </a:r>
          </a:p>
          <a:p>
            <a:r>
              <a:rPr i="0"/>
              <a:t>- Das Projekt prüft den einzelnen Text:</a:t>
            </a:r>
          </a:p>
          <a:p>
            <a:r>
              <a:rPr i="0"/>
              <a:t>- Versteht die Zielgruppe genau dieses Kurses ihn?</a:t>
            </a:r>
          </a:p>
          <a:p>
            <a:r>
              <a:rPr i="0"/>
              <a:t>- Die KI kann hier nur Vorschläge machen, die Entscheidung liegt beim Fachbereich.</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für den man wissen muss, wer liest.</a:t>
            </a:r>
          </a:p>
          <a:p>
            <a:r>
              <a:rPr i="0"/>
              <a:t>- 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Und damit kommen wir zum Kern der Aufgabe, unserem System-Prompt.</a:t>
            </a:r>
          </a:p>
          <a:p>
            <a:r>
              <a:rPr i="0"/>
              <a:t>- Er folgt der gängigen Sechs-Komponenten- Struktur</a:t>
            </a:r>
          </a:p>
          <a:p/>
          <a:p>
            <a:r>
              <a:rPr i="0"/>
              <a:t>### Rolle, Aufgabe, Format, Grenzen</a:t>
            </a:r>
          </a:p>
          <a:p>
            <a:r>
              <a:rPr i="0"/>
              <a:t>*(Vorlesen)*</a:t>
            </a:r>
          </a:p>
          <a:p/>
          <a:p>
            <a:r>
              <a:rPr i="0"/>
              <a:t>### Kontext: die Wortliste</a:t>
            </a:r>
          </a:p>
          <a:p>
            <a:r>
              <a:rPr i="0"/>
              <a:t>- Der KONTEXT enthält das Hauswissen: acht Programmbereiche, interne Abkürzungen und auch die sechs Prüfregeln sind hier drin.</a:t>
            </a:r>
          </a:p>
          <a:p>
            <a:r>
              <a:rPr i="0"/>
              <a:t>- Der wichtigste Teil: 820 Wörter des Prüfungswortschatzes für das </a:t>
            </a:r>
            <a:r>
              <a:rPr b="1" i="0"/>
              <a:t>Goethe-Zertifikat A1</a:t>
            </a:r>
            <a:r>
              <a:rPr i="0"/>
              <a:t>. Die werden vollständig mit dem Prompt übergeben.</a:t>
            </a:r>
          </a:p>
          <a:p>
            <a:r>
              <a:rPr i="0"/>
              <a:t>- Das ist das Ergebnis der ersten Überarbeitung: Vorher hat die KI behauptet gegen die Wortlisten zu prüfen, was jedoch nicht erfolgt ist.</a:t>
            </a:r>
          </a:p>
          <a:p>
            <a:r>
              <a:rPr i="0"/>
              <a:t>- </a:t>
            </a:r>
            <a:r>
              <a:rPr b="1" i="0">
                <a:solidFill>
                  <a:srgbClr val="A4162B"/>
                </a:solidFill>
              </a:rPr>
              <a:t>Funfact:</a:t>
            </a:r>
            <a:r>
              <a:rPr i="0"/>
              <a:t> Die Liste geht laut Goethe-Institut auf eine Veröffentlichung der Prüfungszentrale des Deutschen Volkshochschul-Verbands zurück.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Zur technischen Implementierung</a:t>
            </a:r>
          </a:p>
          <a:p>
            <a:r>
              <a:rPr i="0"/>
              <a:t>- Zwei Wege sind zu Beginn des Pilotprojekts verfügbar.</a:t>
            </a:r>
          </a:p>
          <a:p/>
          <a:p>
            <a:r>
              <a:rPr i="0"/>
              <a:t>### Weg 1: Als KI-Assistent bei fobizz</a:t>
            </a:r>
          </a:p>
          <a:p>
            <a:r>
              <a:rPr i="0"/>
              <a:t>- Braucht keine eigene Technik.</a:t>
            </a:r>
          </a:p>
          <a:p>
            <a:r>
              <a:rPr i="0"/>
              <a:t>- Der Deutsche Volkshochschul-Verband hat im Mai 2025 eine Rahmenvereinbarung mit dem Anbieter </a:t>
            </a:r>
            <a:r>
              <a:rPr b="1" i="0"/>
              <a:t>fobizz</a:t>
            </a:r>
            <a:r>
              <a:rPr i="0"/>
              <a:t> geschlossen: datenschutzkonformer KI-Zugang für alle Volkshochschulen, mit eigenen Assistenten und eigenen Anweisungen.</a:t>
            </a:r>
          </a:p>
          <a:p>
            <a:r>
              <a:rPr i="0"/>
              <a:t>- Zustimmung außerhalb des Pilotbereichs braucht es nicht, weil bereits ein Rahmenvertrag besteht.</a:t>
            </a:r>
          </a:p>
          <a:p/>
          <a:p>
            <a:r>
              <a:rPr i="0"/>
              <a:t>### Weg 2: Als eigenes Prüfwerkzeug</a:t>
            </a:r>
          </a:p>
          <a:p>
            <a:r>
              <a:rPr i="0"/>
              <a:t>- Einen Entwurf einfügen — oder einen vorhandenen Kurs auswählen</a:t>
            </a:r>
          </a:p>
          <a:p>
            <a:r>
              <a:rPr i="0"/>
              <a:t>- Die Schnittstelle des Kursportals ist öffentlich. Es braucht nur einen eigenen Server.</a:t>
            </a:r>
          </a:p>
          <a:p>
            <a:r>
              <a:rPr i="0"/>
              <a:t>- Auch um den Prompt zu testen, habe ich hier einen Prototyp gebaut.</a:t>
            </a:r>
          </a:p>
          <a:p/>
          <a:p>
            <a:r>
              <a:rPr i="0"/>
              <a:t>### Unten:</a:t>
            </a:r>
          </a:p>
          <a:p>
            <a:r>
              <a:rPr i="0"/>
              <a:t>- Perspektivisch möglich, aber kein Teil des Pilotprojekts: Man könnte die Prüfung direkt ins Redaktionssystem einbauen, also dort, wo der Text entsteht.</a:t>
            </a:r>
          </a:p>
          <a:p>
            <a:r>
              <a:rPr i="0"/>
              <a:t>- Allerdings wird das Portal von einem externen Dienstleister betreut.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Damit zum Change-Teil: Wen sollten wir im Projekt auf welche Weise berücksichtigen?</a:t>
            </a:r>
          </a:p>
          <a:p>
            <a:r>
              <a:rPr i="0"/>
              <a:t>- Wichtig: Der Pilot beschränkt sich auf einen der vier Fachbereiche.</a:t>
            </a:r>
          </a:p>
          <a:p/>
          <a:p>
            <a:r>
              <a:rPr i="0"/>
              <a:t>- Die </a:t>
            </a:r>
            <a:r>
              <a:rPr b="1" i="0"/>
              <a:t>Einfluss-Betroffenheits-Matrix</a:t>
            </a:r>
            <a:r>
              <a:rPr i="0"/>
              <a:t> sortiert die Stakeholder nach zwei Fragen: Wer ist betroffen, und wer hat Einfluss.</a:t>
            </a:r>
          </a:p>
          <a:p/>
          <a:p>
            <a:r>
              <a:rPr i="0"/>
              <a:t>### Oben rechts: Eng einbinden</a:t>
            </a:r>
          </a:p>
          <a:p>
            <a:r>
              <a:rPr i="0"/>
              <a:t>- Ich fange an mit den Stakeholdern, die wir eng einbinden müssen.</a:t>
            </a:r>
          </a:p>
          <a:p>
            <a:r>
              <a:rPr i="0"/>
              <a:t>- </a:t>
            </a:r>
            <a:r>
              <a:rPr b="1" i="0"/>
              <a:t>Der Direktor</a:t>
            </a:r>
            <a:r>
              <a:rPr i="0"/>
              <a:t> — da er laut Impressum persönlich für die redaktionellen Inhalte verantwortlich ist.</a:t>
            </a:r>
          </a:p>
          <a:p>
            <a:r>
              <a:rPr i="0"/>
              <a:t>- </a:t>
            </a:r>
            <a:r>
              <a:rPr b="1" i="0"/>
              <a:t>Der Pilot-Fachbereich</a:t>
            </a:r>
            <a:r>
              <a:rPr i="0"/>
              <a:t> — natürlich, er entscheidet über den Text.</a:t>
            </a:r>
          </a:p>
          <a:p>
            <a:r>
              <a:rPr i="0"/>
              <a:t>- </a:t>
            </a:r>
            <a:r>
              <a:rPr b="1" i="0"/>
              <a:t>Der Personalrat</a:t>
            </a:r>
            <a:r>
              <a:rPr i="0"/>
              <a:t> — der Einzige, der das Projekt anhalten kann: Die Einführung ist mitbestimmungspflichtig. </a:t>
            </a:r>
            <a:r>
              <a:rPr b="1" i="0">
                <a:solidFill>
                  <a:srgbClr val="A4162B"/>
                </a:solidFill>
              </a:rPr>
              <a:t>Ohne seine Zustimmung passiert nichts.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Die Betriebskommission</a:t>
            </a:r>
            <a:r>
              <a:rPr i="0"/>
              <a:t> — als Aufsichtsgremium.</a:t>
            </a:r>
          </a:p>
          <a:p>
            <a:r>
              <a:rPr i="0"/>
              <a:t>- </a:t>
            </a:r>
            <a:r>
              <a:rPr b="1" i="0"/>
              <a:t>Der Volkshochschul-Verband</a:t>
            </a:r>
            <a:r>
              <a:rPr i="0"/>
              <a:t> — stellt den KI-Zugang.</a:t>
            </a:r>
          </a:p>
          <a:p/>
          <a:p>
            <a:r>
              <a:rPr i="0"/>
              <a:t>### Unten rechts: Konsultieren</a:t>
            </a:r>
          </a:p>
          <a:p>
            <a:r>
              <a:rPr i="0"/>
              <a:t>- </a:t>
            </a:r>
            <a:r>
              <a:rPr b="1" i="0"/>
              <a:t>Die Kursleitungen auf Honorarbasis</a:t>
            </a:r>
            <a:r>
              <a:rPr i="0"/>
              <a:t> — oft kommt der Text von ihnen. Trotzdem sitzen sie in keinem Gremium, und vorschreiben kann man ihnen nichts.</a:t>
            </a:r>
          </a:p>
          <a:p>
            <a:r>
              <a:rPr i="0"/>
              <a:t>- </a:t>
            </a:r>
            <a:r>
              <a:rPr b="1" i="0"/>
              <a:t>Die Redaktion des Programmhefts</a:t>
            </a:r>
            <a:r>
              <a:rPr i="0"/>
              <a:t> — prüft Texte für den Druck schon heute, weiß also, wie Textprüfung geht. </a:t>
            </a:r>
            <a:r>
              <a:rPr i="1"/>
              <a:t>Im Pilot ist sie nicht: Der prüft nur neue Portaltexte.</a:t>
            </a:r>
          </a:p>
          <a:p>
            <a:r>
              <a:rPr i="0"/>
              <a:t>- </a:t>
            </a:r>
            <a:r>
              <a:rPr b="1" i="0"/>
              <a:t>Die Teilnehmenden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 den Widerständen.</a:t>
            </a:r>
          </a:p>
          <a:p/>
          <a:p>
            <a:r>
              <a:rPr i="0"/>
              <a:t>### Unsicherheit · im ganzen Haus</a:t>
            </a:r>
          </a:p>
          <a:p>
            <a:r>
              <a:rPr i="0"/>
              <a:t>- Die Frage, die als Erstes kommen könnte: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Textbausteine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erkläre die Logik dahinter.</a:t>
            </a:r>
          </a:p>
          <a:p/>
          <a:p>
            <a:r>
              <a:rPr i="0"/>
              <a:t>### Die Logik: eine Kette von Freigaben</a:t>
            </a:r>
          </a:p>
          <a:p>
            <a:r>
              <a:rPr i="0"/>
              <a:t>- Jeder Monat gibt den nächsten erst frei.</a:t>
            </a:r>
          </a:p>
          <a:p>
            <a:r>
              <a:rPr i="0"/>
              <a:t>- </a:t>
            </a:r>
            <a:r>
              <a:rPr b="1" i="0">
                <a:solidFill>
                  <a:srgbClr val="A4162B"/>
                </a:solidFill>
              </a:rPr>
              <a:t>Ohne Dienstvereinbarung kein Setup, ohne Training kein Pilot, ohne Nachmessung kein Rollout.</a:t>
            </a:r>
          </a:p>
          <a:p>
            <a:r>
              <a:rPr i="0"/>
              <a:t>- Der Rollout im dritten Monat wird deshalb nur vorbereitet. Ob er kommt, entscheidet die Nachmessung — nicht der Kalender.</a:t>
            </a:r>
          </a:p>
          <a:p/>
          <a:p>
            <a:r>
              <a:rPr i="0"/>
              <a:t>### Monat 2, Kommunikation: Training</a:t>
            </a:r>
          </a:p>
          <a:p>
            <a:r>
              <a:rPr i="0"/>
              <a:t>- Kein KI-Grundlagenkurs, sondern eine Schulung am konkreten System: einen Kurstext prüfen lassen, die Befunde lesen, annehmen oder verwerfen — und die Grenze kennen: Die KI schlägt vor, entschieden wird im Fachbereich.</a:t>
            </a:r>
          </a:p>
          <a:p>
            <a:r>
              <a:rPr i="0"/>
              <a:t>- Verpflichtend ist das ohnehin: </a:t>
            </a:r>
            <a:r>
              <a:rPr b="1" i="0"/>
              <a:t>Artikel 4 der KI-Verordnung</a:t>
            </a:r>
            <a:r>
              <a:rPr i="0"/>
              <a:t> verlangt seit Februar 2025 ausreichende KI-Kompetenz — und zwar ausdrücklich bezogen auf den Einsatzkontext. Genau das leistet eine Schulung am Werkzeug selbst.</a:t>
            </a:r>
          </a:p>
          <a:p>
            <a:r>
              <a:rPr i="0"/>
              <a:t>- Die Pflicht gilt für das Personal und für alle, die im Auftrag mit Betrieb und Nutzung befasst sind. Deshalb steht in der Zelle nicht „Personal“, sondern „alle, die bedienen“. </a:t>
            </a:r>
            <a:r>
              <a:rPr i="1"/>
              <a:t>Wer nicht bedient, braucht die Schulung nicht — deshalb bleiben die Kursleitungen aus dieser Kette.</a:t>
            </a:r>
          </a:p>
          <a:p/>
          <a:p>
            <a:r>
              <a:rPr i="0"/>
              <a:t>### Der Kasten unten: die Textbausteine</a:t>
            </a:r>
          </a:p>
          <a:p>
            <a:r>
              <a:rPr i="0"/>
              <a:t>- Was mit Textbausteinen gemeint ist: Textteile, die zentral gepflegt werden und wortgleich in vielen Kursbeschreibungen stehen — der Anmeldehinweis etwa, oder die Beschreibung der Niveaustufe.</a:t>
            </a:r>
          </a:p>
          <a:p>
            <a:r>
              <a:rPr i="0"/>
              <a:t>- Der Fachbereich, der die Befunde bekommt, darf genau diese Teile nicht ändern — das war die Verlustangst von der Widerstandsfolie. Beim Kernfall, dem Deutschkurs auf A2, ist das mehr als die halbe Beschreibung.</a:t>
            </a:r>
          </a:p>
          <a:p>
            <a:r>
              <a:rPr i="0"/>
              <a:t>- Warum zuerst? </a:t>
            </a:r>
            <a:r>
              <a:rPr b="1" i="0">
                <a:solidFill>
                  <a:srgbClr val="A4162B"/>
                </a:solidFill>
              </a:rPr>
              <a:t>Ein korrigierter Textbaustein wirkt sofort in allen Kursen, die ihn verwenden</a:t>
            </a:r>
            <a:r>
              <a:rPr i="0"/>
              <a:t> — der früheste sichtbare Erfolg, den dieses Projekt haben kann.</a:t>
            </a:r>
          </a:p>
          <a:p>
            <a:r>
              <a:rPr i="0"/>
              <a:t>- Deshalb das Fragen vor dem Handeln: Die Zuständigkeit wird im ersten Monat geklärt, korrigiert wird im zweiten. </a:t>
            </a:r>
            <a:r>
              <a:rPr i="1"/>
              <a:t>Ohne sie dürfte im zweiten Monat niemand einen Textbaustein anfassen.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Keine Aufzählung, sondern eine Reihenfolge:</a:t>
            </a:r>
          </a:p>
          <a:p>
            <a:r>
              <a:rPr b="1" i="0">
                <a:solidFill>
                  <a:srgbClr val="A4162B"/>
                </a:solidFill>
              </a:rPr>
              <a:t>Jeder Schritt bedingt den nächsten.</a:t>
            </a:r>
          </a:p>
          <a:p/>
          <a:p>
            <a:r>
              <a:rPr i="0"/>
              <a:t>### Die vier Schritte</a:t>
            </a:r>
          </a:p>
          <a:p>
            <a:r>
              <a:rPr i="0"/>
              <a:t>- Die </a:t>
            </a:r>
            <a:r>
              <a:rPr b="1" i="0"/>
              <a:t>Dienstvereinbarung</a:t>
            </a:r>
            <a:r>
              <a:rPr i="0"/>
              <a:t> zuerst, aus dem Grund von eben.</a:t>
            </a:r>
          </a:p>
          <a:p>
            <a:r>
              <a:rPr i="0"/>
              <a:t>- Dann einen </a:t>
            </a:r>
            <a:r>
              <a:rPr b="1" i="0"/>
              <a:t>Fachbereich</a:t>
            </a:r>
            <a:r>
              <a:rPr i="0"/>
              <a:t> gewinnen, und zwar freiwillig — ein zugewiesener liefert kein belastbares Ergebnis, sondern nur Erfüllung.</a:t>
            </a:r>
          </a:p>
          <a:p>
            <a:r>
              <a:rPr i="0"/>
              <a:t>- Dann die </a:t>
            </a:r>
            <a:r>
              <a:rPr b="1" i="0"/>
              <a:t>Freigabe der Textbausteine</a:t>
            </a:r>
            <a:r>
              <a:rPr i="0"/>
              <a:t>.</a:t>
            </a:r>
          </a:p>
          <a:p>
            <a:r>
              <a:rPr i="0"/>
              <a:t>- Und erst als viertes das Technische, den </a:t>
            </a:r>
            <a:r>
              <a:rPr b="1" i="0"/>
              <a:t>Assistenten anlegen</a:t>
            </a:r>
            <a:r>
              <a:rPr i="0"/>
              <a:t>. Das kostet nichts: kein Einkauf, keine neue Stelle, der KI-Zugang ist da.</a:t>
            </a:r>
          </a:p>
          <a:p/>
          <a:p>
            <a:r>
              <a:rPr i="0"/>
              <a:t>### Der Kasten unten: der dritte Schritt</a:t>
            </a:r>
          </a:p>
          <a:p>
            <a:r>
              <a:rPr i="0"/>
              <a:t>- Der, den man am ehesten überspringt, und der teuerste.</a:t>
            </a:r>
          </a:p>
          <a:p>
            <a:r>
              <a:rPr i="0"/>
              <a:t>- Lässt man ihn aus, liefert der Pilot eine Liste von Befunden, die im Pilotbereich niemand ändern darf.</a:t>
            </a:r>
          </a:p>
          <a:p>
            <a:r>
              <a:rPr i="0"/>
              <a:t>- Das Werkzeug hat sich dann beim ersten 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