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### Begrüßung</a:t>
            </a:r>
          </a:p>
          <a:p/>
          <a:p>
            <a:r>
              <a:rPr i="0"/>
              <a:t>Willkommen zu meinem Abschlussprojekt!</a:t>
            </a:r>
          </a:p>
          <a:p>
            <a:r>
              <a:rPr i="0"/>
              <a:t>- KLARTEXT, ein KI-gestützter Prüfschritt für die Kursbeschreibungen der Volkshochschule Frankfurt.</a:t>
            </a:r>
          </a:p>
          <a:p/>
          <a:p>
            <a:r>
              <a:rPr i="0"/>
              <a:t>### Worum geht es?</a:t>
            </a:r>
          </a:p>
          <a:p/>
          <a:p>
            <a:r>
              <a:rPr i="0"/>
              <a:t>- Barrierefreiheit.</a:t>
            </a:r>
          </a:p>
          <a:p>
            <a:r>
              <a:rPr i="0"/>
              <a:t>- Aber nicht der technische Teil wie. Kontraste oder Tastaturbedienung, sondern:</a:t>
            </a:r>
          </a:p>
          <a:p>
            <a:r>
              <a:rPr i="0"/>
              <a:t>- ob der Text ankommt bei denen, für die er geschrieben ist.</a:t>
            </a:r>
          </a:p>
          <a:p/>
          <a:p>
            <a:r>
              <a:rPr i="0"/>
              <a:t>### Der schärfste Fall</a:t>
            </a:r>
          </a:p>
          <a:p>
            <a:r>
              <a:rPr i="0"/>
              <a:t>- Beispiel: bietet die Volkshochschule Deutschkurse für Menschen an, die gerade erst Deutsch lernen.</a:t>
            </a:r>
          </a:p>
          <a:p>
            <a:r>
              <a:rPr i="0"/>
              <a:t>- Die Beschreibungen dieser Kurse sind oft in einem Deutsch geschrieben, das man erst nach dem Kurs versteht.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Erstmal eine kurze Übersicht zum Projekt.</a:t>
            </a:r>
          </a:p>
          <a:p/>
          <a:p>
            <a:r>
              <a:rPr i="0"/>
              <a:t>### 5.800 Texte und 57 Prozent</a:t>
            </a:r>
          </a:p>
          <a:p/>
          <a:p>
            <a:r>
              <a:rPr i="0"/>
              <a:t>- Die Volkshochschule veröffentlicht rund 5800 Kursbeschreibungen im Jahr.</a:t>
            </a:r>
          </a:p>
          <a:p>
            <a:r>
              <a:rPr i="0"/>
              <a:t>- Von allen Texten, die heute im Portal stehen, hat mehr als jeder zweite Text einen Befund </a:t>
            </a:r>
            <a:r>
              <a:rPr i="1"/>
              <a:t>Die Zahl stammt von einem Skript, das ohne KI auskommt und deshalb eine der sechs Regeln nicht prüfen kann. Mit dem Prüfassistenten liegt der Wert höher.</a:t>
            </a:r>
          </a:p>
          <a:p/>
          <a:p>
            <a:r>
              <a:rPr i="0"/>
              <a:t>### Fünf Jahre ohne externe Prüfung</a:t>
            </a:r>
          </a:p>
          <a:p>
            <a:r>
              <a:rPr i="0"/>
              <a:t>Die letzte externe Prüfung auf Barrierefreiheit der Website ist etwa 5 Jahre</a:t>
            </a:r>
          </a:p>
          <a:p>
            <a:r>
              <a:rPr i="0"/>
              <a:t>her. Die Zahl stammt aus der Erklärung zur Barrierefreiheit der</a:t>
            </a:r>
          </a:p>
          <a:p>
            <a:r>
              <a:rPr i="0"/>
              <a:t>Volkshochschule.</a:t>
            </a:r>
          </a:p>
          <a:p/>
          <a:p>
            <a:r>
              <a:rPr i="0"/>
              <a:t>### Einfache Sprache, der eigentliche Anlass</a:t>
            </a:r>
          </a:p>
          <a:p>
            <a:r>
              <a:rPr i="0"/>
              <a:t>Dort heißt es auch, dass Informationen zu Betrieb und Kursgeschäft in</a:t>
            </a:r>
          </a:p>
          <a:p>
            <a:r>
              <a:rPr i="0"/>
              <a:t>einfacher Sprache verfügbar sind. Das gilt jedoch nicht für die</a:t>
            </a:r>
          </a:p>
          <a:p>
            <a:r>
              <a:rPr i="0"/>
              <a:t>Kursbeschreibungen selbst, die immerhin den größten Textbestand darstellen.</a:t>
            </a:r>
          </a:p>
          <a:p/>
          <a:p>
            <a:r>
              <a:rPr i="0"/>
              <a:t>### Der Kasten unten</a:t>
            </a:r>
          </a:p>
          <a:p>
            <a:r>
              <a:rPr i="0"/>
              <a:t>Vor allem hier setzt das Projekt 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Daraus folgt mein Vorschlag.</a:t>
            </a:r>
          </a:p>
          <a:p/>
          <a:p>
            <a:r>
              <a:rPr i="0"/>
              <a:t>### Ziel</a:t>
            </a:r>
          </a:p>
          <a:p/>
          <a:p>
            <a:r>
              <a:rPr i="0"/>
              <a:t>Das Ziel oben ist von den Lesenden her formuliert. Wer einen Kurs sucht, soll</a:t>
            </a:r>
          </a:p>
          <a:p>
            <a:r>
              <a:rPr i="0"/>
              <a:t>die Beschreibung verstehen, ob er sie liest oder vorgelesen bekommt. Die</a:t>
            </a:r>
          </a:p>
          <a:p>
            <a:r>
              <a:rPr i="0"/>
              <a:t>Betriebssatzung sagt, die Angebote stehen allen offen — dann muss das auch für</a:t>
            </a:r>
          </a:p>
          <a:p>
            <a:r>
              <a:rPr i="0"/>
              <a:t>die Texte gelten, mit denen wir sie ankündigen.</a:t>
            </a:r>
          </a:p>
          <a:p/>
          <a:p>
            <a:r>
              <a:rPr i="0"/>
              <a:t>Geprüft wird zweierlei: ob die Zielgruppe den Text versteht, und ob ein</a:t>
            </a:r>
          </a:p>
          <a:p>
            <a:r>
              <a:rPr i="0"/>
              <a:t>Vorleseprogramm etwas damit anfangen kann.</a:t>
            </a:r>
          </a:p>
          <a:p/>
          <a:p>
            <a:r>
              <a:rPr i="0"/>
              <a:t>### Lösung</a:t>
            </a:r>
          </a:p>
          <a:p/>
          <a:p>
            <a:r>
              <a:rPr i="0"/>
              <a:t>Dafür genügt ein System-Prompt in dem KI-Zugang, den der Volkshochschul-</a:t>
            </a:r>
          </a:p>
          <a:p>
            <a:r>
              <a:rPr i="0"/>
              <a:t>Verband ohnehin für alle Volkshochschulen bereitstellt. Es muss nichts</a:t>
            </a:r>
          </a:p>
          <a:p>
            <a:r>
              <a:rPr i="0"/>
              <a:t>beschafft werden.</a:t>
            </a:r>
          </a:p>
          <a:p/>
          <a:p>
            <a:r>
              <a:rPr i="0"/>
              <a:t>### Abgrenzung</a:t>
            </a:r>
          </a:p>
          <a:p/>
          <a:p>
            <a:r>
              <a:rPr i="0"/>
              <a:t>Die Abgrenzung darunter zieht sich durch das ganze Konzept: Für die technische</a:t>
            </a:r>
          </a:p>
          <a:p>
            <a:r>
              <a:rPr i="0"/>
              <a:t>Barrierefreiheit der Website bleibt ein normales Prüfwerkzeug zuständig,</a:t>
            </a:r>
          </a:p>
          <a:p>
            <a:r>
              <a:rPr i="0"/>
              <a:t>zusammen mit der städtischen IT. Die KI sieht nur den Kurstext.</a:t>
            </a:r>
          </a:p>
          <a:p/>
          <a:p>
            <a:r>
              <a:rPr i="0"/>
              <a:t>### Ergebnis</a:t>
            </a:r>
          </a:p>
          <a:p/>
          <a:p>
            <a:r>
              <a:rPr i="0"/>
              <a:t>Der vierte Punkt ist das erwartete Ergebnis. Die Befundquote soll von</a:t>
            </a:r>
          </a:p>
          <a:p>
            <a:r>
              <a:rPr i="0"/>
              <a:t>siebenundfünfzig unter fünfundzwanzig Prozent fallen, und der laufende Aufwand</a:t>
            </a:r>
          </a:p>
          <a:p>
            <a:r>
              <a:rPr i="0"/>
              <a:t>liegt bei neunundzwanzig Stunden im Jahr. Das ist gerechnet, nicht geschätzt:</a:t>
            </a:r>
          </a:p>
          <a:p>
            <a:r>
              <a:rPr i="0"/>
              <a:t>Geprüft wird nur, was neu entsteht, also rund sechshundert Texte im Jahr und</a:t>
            </a:r>
          </a:p>
          <a:p>
            <a:r>
              <a:rPr i="0"/>
              <a:t>nicht fünftausendachthundert.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Unten steht der erste Schritt: ein Pilot in einem Programmbereich, drei</a:t>
            </a:r>
          </a:p>
          <a:p>
            <a:r>
              <a:rPr i="0"/>
              <a:t>Monate. Der Prompt schlägt vor, der Mensch entscheidet.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Das Unternehmen und der Prozess.</a:t>
            </a:r>
          </a:p>
          <a:p/>
          <a:p>
            <a:r>
              <a:rPr i="0"/>
              <a:t>### Linke Spalte: Das Unternehmen</a:t>
            </a:r>
          </a:p>
          <a:p/>
          <a:p>
            <a:r>
              <a:rPr i="0"/>
              <a:t>Die Volkshochschule Frankfurt ist kein Amt, sondern ein Eigenbetrieb der</a:t>
            </a:r>
          </a:p>
          <a:p>
            <a:r>
              <a:rPr i="0"/>
              <a:t>Stadt. Geleitet wird sie von einem Direktor, der laut Impressum auch</a:t>
            </a:r>
          </a:p>
          <a:p>
            <a:r>
              <a:rPr i="0"/>
              <a:t>persönlich für die redaktionellen Inhalte der Website verantwortlich ist.</a:t>
            </a:r>
          </a:p>
          <a:p>
            <a:r>
              <a:rPr i="0"/>
              <a:t>Darüber steht eine Betriebskommission mit sechzehn Sitzen, zwei davon für den</a:t>
            </a:r>
          </a:p>
          <a:p>
            <a:r>
              <a:rPr i="0"/>
              <a:t>Personalrat. Diese zwei Sitze spielen später noch eine Rolle.</a:t>
            </a:r>
          </a:p>
          <a:p/>
          <a:p>
            <a:r>
              <a:rPr i="0"/>
              <a:t>Am Ende der ersten Zeile steht die Qualitätstestierung. Das Unternehmen ist</a:t>
            </a:r>
          </a:p>
          <a:p>
            <a:r>
              <a:rPr i="0"/>
              <a:t>seit zweitausendfünf nach L Q W testiert, Lernerorientierte</a:t>
            </a:r>
          </a:p>
          <a:p>
            <a:r>
              <a:rPr i="0"/>
              <a:t>Qualitätstestierung in der Weiterbildung, ein Verfahren mit regelmäßiger</a:t>
            </a:r>
          </a:p>
          <a:p>
            <a:r>
              <a:rPr i="0"/>
              <a:t>externer Prüfung, inzwischen in der sechsten Runde. Hier fehlt also keine</a:t>
            </a:r>
          </a:p>
          <a:p>
            <a:r>
              <a:rPr i="0"/>
              <a:t>Qualitätskultur. Es fehlt genau ein Schritt darin.</a:t>
            </a:r>
          </a:p>
          <a:p/>
          <a:p>
            <a:r>
              <a:rPr i="0"/>
              <a:t>### Der Satz oben aus der Betriebssatzung</a:t>
            </a:r>
          </a:p>
          <a:p/>
          <a:p>
            <a:r>
              <a:rPr i="0"/>
              <a:t>Der Satz oben stammt wörtlich aus der Betriebssatzung: Die Angebote stehen</a:t>
            </a:r>
          </a:p>
          <a:p>
            <a:r>
              <a:rPr i="0"/>
              <a:t>grundsätzlich allen offen, ohne Rücksicht auf Vorbildung. Daran messe ich das</a:t>
            </a:r>
          </a:p>
          <a:p>
            <a:r>
              <a:rPr i="0"/>
              <a:t>Unternehmen — nicht am Gesetz, sondern an seinem eigenen Anspruch.</a:t>
            </a:r>
          </a:p>
          <a:p/>
          <a:p>
            <a:r>
              <a:rPr i="0"/>
              <a:t>### Rechte Spalte: So entsteht ein Kurstext</a:t>
            </a:r>
          </a:p>
          <a:p/>
          <a:p>
            <a:r>
              <a:rPr i="0"/>
              <a:t>Rechts steht, wie ein Kurstext entsteht. Geplant wird halbjährlich, von den</a:t>
            </a:r>
          </a:p>
          <a:p>
            <a:r>
              <a:rPr i="0"/>
              <a:t>Teams der vier Fachbereiche. Der Text wird geschrieben und ins</a:t>
            </a:r>
          </a:p>
          <a:p>
            <a:r>
              <a:rPr i="0"/>
              <a:t>Kursverwaltungssystem eingepflegt, und dann erscheint er. Über der Spalte</a:t>
            </a:r>
          </a:p>
          <a:p>
            <a:r>
              <a:rPr i="0"/>
              <a:t>steht das Wort angenommen, denn wer bei der vhs Frankfurt die Texte schreibt,</a:t>
            </a:r>
          </a:p>
          <a:p>
            <a:r>
              <a:rPr i="0"/>
              <a:t>ist nicht öffentlich dokumentiert.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Zwischen dem Einpflegen und dem Erscheinen ist kein Prüfschritt auf</a:t>
            </a:r>
          </a:p>
          <a:p>
            <a:r>
              <a:rPr i="0"/>
              <a:t>Verständlichkeit vorgesehen. Das ist kein Vorwurf, denn dieser Arbeitsschritt</a:t>
            </a:r>
          </a:p>
          <a:p>
            <a:r>
              <a:rPr i="0"/>
              <a:t>ist nirgends vorgesehen. Genau deshalb ist es ein Fall für Prozessgestaltung</a:t>
            </a:r>
          </a:p>
          <a:p>
            <a:r>
              <a:rPr i="0"/>
              <a:t>und nicht für einen Appell, sich mehr Mühe zu geben.</a:t>
            </a:r>
          </a:p>
          <a:p/>
          <a:p>
            <a:r>
              <a:rPr i="0"/>
              <a:t>Für das gedruckte Programmheft gibt es sehr wohl eine Redaktion, das Impressum</a:t>
            </a:r>
          </a:p>
          <a:p>
            <a:r>
              <a:rPr i="0"/>
              <a:t>nennt sie mit Namen. Für das Portal gibt es sie nicht, und dort stehen die</a:t>
            </a:r>
          </a:p>
          <a:p>
            <a:r>
              <a:rPr i="0"/>
              <a:t>Texte, um die es hier geht.</a:t>
            </a:r>
          </a:p>
          <a:p/>
          <a:p>
            <a:r>
              <a:rPr i="0"/>
              <a:t>Ich habe nachgezählt: Vierundfünfzig Prozent aller Kurse teilen sich ihren</a:t>
            </a:r>
          </a:p>
          <a:p>
            <a:r>
              <a:rPr i="0"/>
              <a:t>Text mit mindestens einem anderen. Ein schlecht formulierter Text ist hier nie</a:t>
            </a:r>
          </a:p>
          <a:p>
            <a:r>
              <a:rPr i="0"/>
              <a:t>ein Einzelfall.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Zur Potenzialermittlung. Hier habe ich nicht geschätzt, sondern gemessen.</a:t>
            </a:r>
          </a:p>
          <a:p/>
          <a:p>
            <a:r>
              <a:rPr i="0"/>
              <a:t>### Die Messung</a:t>
            </a:r>
          </a:p>
          <a:p/>
          <a:p>
            <a:r>
              <a:rPr i="0"/>
              <a:t>Das Kursportal hat eine offene Schnittstelle. Darüber habe ich alle</a:t>
            </a:r>
          </a:p>
          <a:p>
            <a:r>
              <a:rPr i="0"/>
              <a:t>Kurstexte gezogen, gut dreitausend, und mit einem eigenen Skript ausgewertet.</a:t>
            </a:r>
          </a:p>
          <a:p>
            <a:r>
              <a:rPr i="0"/>
              <a:t>Siebenundfünfzig Prozent haben mindestens einen Befund.</a:t>
            </a:r>
          </a:p>
          <a:p/>
          <a:p>
            <a:r>
              <a:rPr i="0"/>
              <a:t>### Wonach gemessen wurde</a:t>
            </a:r>
          </a:p>
          <a:p/>
          <a:p>
            <a:r>
              <a:rPr i="0"/>
              <a:t>Oben steht, wonach ich gemessen habe: sechs Regeln, erst der Maßstab, dann das</a:t>
            </a:r>
          </a:p>
          <a:p>
            <a:r>
              <a:rPr i="0"/>
              <a:t>Ergebnis. Dieselben sechs Regeln sind zugleich der Maßstab des</a:t>
            </a:r>
          </a:p>
          <a:p>
            <a:r>
              <a:rPr i="0"/>
              <a:t>Prüfassistenten, den ich gleich zeige.</a:t>
            </a:r>
          </a:p>
          <a:p/>
          <a:p>
            <a:r>
              <a:rPr i="0"/>
              <a:t>### Links: die zwei Pflichtregeln</a:t>
            </a:r>
          </a:p>
          <a:p/>
          <a:p>
            <a:r>
              <a:rPr i="0"/>
              <a:t>Links stehen die beiden Pflichtregeln. Sie stehen auf Stufe A der</a:t>
            </a:r>
          </a:p>
          <a:p>
            <a:r>
              <a:rPr i="0"/>
              <a:t>Barrierefreiheitsrichtlinien und sind damit verbindlich.</a:t>
            </a:r>
          </a:p>
          <a:p/>
          <a:p>
            <a:r>
              <a:rPr i="0"/>
              <a:t>Struktur heißt: Eine Zeile sieht aus wie eine Überschrift, ist im Quelltext</a:t>
            </a:r>
          </a:p>
          <a:p>
            <a:r>
              <a:rPr i="0"/>
              <a:t>aber gewöhnlicher Fließtext. Dasselbe gilt für Aufzählungen, die jemand nur</a:t>
            </a:r>
          </a:p>
          <a:p>
            <a:r>
              <a:rPr i="0"/>
              <a:t>mit Bindestrichen gebaut hat. Wer sehend liest, merkt davon nichts. Ein</a:t>
            </a:r>
          </a:p>
          <a:p>
            <a:r>
              <a:rPr i="0"/>
              <a:t>Screenreader dagegen bietet an, sich alle Überschriften einer Seite vorlesen</a:t>
            </a:r>
          </a:p>
          <a:p>
            <a:r>
              <a:rPr i="0"/>
              <a:t>zu lassen, um gezielt dorthin zu springen — was technisch keine Überschrift</a:t>
            </a:r>
          </a:p>
          <a:p>
            <a:r>
              <a:rPr i="0"/>
              <a:t>ist, taucht in dieser Liste nicht auf. Die Gliederung ist dann sichtbar</a:t>
            </a:r>
          </a:p>
          <a:p>
            <a:r>
              <a:rPr i="0"/>
              <a:t>vorhanden und für das Vorleseprogramm nicht da.</a:t>
            </a:r>
          </a:p>
          <a:p/>
          <a:p>
            <a:r>
              <a:rPr i="0"/>
              <a:t>Linktext heißt: Der Link sagt nicht, wohin er führt. Das bekannteste Beispiel</a:t>
            </a:r>
          </a:p>
          <a:p>
            <a:r>
              <a:rPr i="0"/>
              <a:t>ist ein Link, der schlicht „hier“ heißt. Der Grund ist derselbe: Screenreader</a:t>
            </a:r>
          </a:p>
          <a:p>
            <a:r>
              <a:rPr i="0"/>
              <a:t>lesen auf Wunsch nur die Links einer Seite vor, ohne den Text drumherum. Eine</a:t>
            </a:r>
          </a:p>
          <a:p>
            <a:r>
              <a:rPr i="0"/>
              <a:t>Liste aus fünfmal „hier“ hilft niemandem weiter.</a:t>
            </a:r>
          </a:p>
          <a:p/>
          <a:p>
            <a:r>
              <a:rPr i="0"/>
              <a:t>### Rechts: die vier Empfehlungen</a:t>
            </a:r>
          </a:p>
          <a:p/>
          <a:p>
            <a:r>
              <a:rPr i="0"/>
              <a:t>Rechts stehen die vier Empfehlungen. Verbindlich sind sie nicht, aber sie sind</a:t>
            </a:r>
          </a:p>
          <a:p>
            <a:r>
              <a:rPr i="0"/>
              <a:t>der eigentliche Ertrag dieses Projekts. Zwei davon, zu schwere Wörter und</a:t>
            </a:r>
          </a:p>
          <a:p>
            <a:r>
              <a:rPr i="0"/>
              <a:t>nicht aufgelöste Abkürzungen, stehen auf Stufe AAA — der höchsten, die niemand</a:t>
            </a:r>
          </a:p>
          <a:p>
            <a:r>
              <a:rPr i="0"/>
              <a:t>einhalten muss. Die beiden anderen habe ich selbst gesetzt.</a:t>
            </a:r>
          </a:p>
          <a:p/>
          <a:p>
            <a:r>
              <a:rPr i="0"/>
              <a:t>Niveau heißt: Ein Wort liegt über dem Sprachniveau derer, die den Text lesen</a:t>
            </a:r>
          </a:p>
          <a:p>
            <a:r>
              <a:rPr i="0"/>
              <a:t>sollen. Das ist die Regel, die sich ohne Kenntnis der Zielgruppe überhaupt</a:t>
            </a:r>
          </a:p>
          <a:p>
            <a:r>
              <a:rPr i="0"/>
              <a:t>nicht anwenden lässt.</a:t>
            </a:r>
          </a:p>
          <a:p/>
          <a:p>
            <a:r>
              <a:rPr i="0"/>
              <a:t>Amtsdeutsch heißt: Im Text steht ein Verwaltungswort, obwohl ein alltägliches</a:t>
            </a:r>
          </a:p>
          <a:p>
            <a:r>
              <a:rPr i="0"/>
              <a:t>genügen würde. Umbuchung statt Wechsel, gegebenenfalls statt wenn nötig. Das</a:t>
            </a:r>
          </a:p>
          <a:p>
            <a:r>
              <a:rPr i="0"/>
              <a:t>trifft nicht nur Sprachanfänger, sondern auch geübte Leserinnen und Leser.</a:t>
            </a:r>
          </a:p>
          <a:p/>
          <a:p>
            <a:r>
              <a:rPr i="0"/>
              <a:t>Satz heißt: über fünfundzwanzig Wörter, bei Deutschkursen über fünfzehn. Diese</a:t>
            </a:r>
          </a:p>
          <a:p>
            <a:r>
              <a:rPr i="0"/>
              <a:t>beiden Zahlen habe ich gesetzt, nicht gemessen; sie orientieren sich an den</a:t>
            </a:r>
          </a:p>
          <a:p>
            <a:r>
              <a:rPr i="0"/>
              <a:t>Empfehlungen für einfache Sprache. Zur Satzlänge sagen die</a:t>
            </a:r>
          </a:p>
          <a:p>
            <a:r>
              <a:rPr i="0"/>
              <a:t>Barrierefreiheitsrichtlinien nämlich nichts, und ob es die richtigen Zahlen</a:t>
            </a:r>
          </a:p>
          <a:p>
            <a:r>
              <a:rPr i="0"/>
              <a:t>sind, soll der Pilot beantworten.</a:t>
            </a:r>
          </a:p>
          <a:p/>
          <a:p>
            <a:r>
              <a:rPr i="0"/>
              <a:t>Abkürzung heißt: Ein Kürzel steht im Text, ohne beim ersten Mal aufgelöst zu</a:t>
            </a:r>
          </a:p>
          <a:p>
            <a:r>
              <a:rPr i="0"/>
              <a:t>werden. Davon hat die vhs einige eigene, D-T-Z zum Beispiel, der Deutsch-Test</a:t>
            </a:r>
          </a:p>
          <a:p>
            <a:r>
              <a:rPr i="0"/>
              <a:t>für Zuwanderer.</a:t>
            </a:r>
          </a:p>
          <a:p/>
          <a:p>
            <a:r>
              <a:rPr i="0"/>
              <a:t>### Zwei Kurse im Vergleich</a:t>
            </a:r>
          </a:p>
          <a:p/>
          <a:p>
            <a:r>
              <a:rPr i="0"/>
              <a:t>Die Tabelle darunter zeigt zwei Sprachkurse, und beide tragen eine niedrige</a:t>
            </a:r>
          </a:p>
          <a:p>
            <a:r>
              <a:rPr i="0"/>
              <a:t>Stufe im Titel. Das bedeutet zweimal etwas völlig Verschiedenes.</a:t>
            </a:r>
          </a:p>
          <a:p/>
          <a:p>
            <a:r>
              <a:rPr i="0"/>
              <a:t>Beim Englischkurs steht A1 für das Englisch, das dort gelernt wird. Wer die</a:t>
            </a:r>
          </a:p>
          <a:p>
            <a:r>
              <a:rPr i="0"/>
              <a:t>Beschreibung liest, ist deutschsprachig und liest Deutsch fließend. Beim</a:t>
            </a:r>
          </a:p>
          <a:p>
            <a:r>
              <a:rPr i="0"/>
              <a:t>Deutschkurs steht A2 für das Deutsch, das dort gelernt wird. Wer diese</a:t>
            </a:r>
          </a:p>
          <a:p>
            <a:r>
              <a:rPr i="0"/>
              <a:t>Beschreibung liest, kann Deutsch bisher eine Stufe darunter, also A1.</a:t>
            </a:r>
          </a:p>
          <a:p/>
          <a:p>
            <a:r>
              <a:rPr i="0"/>
              <a:t>Der Englischkurs hat kein einziges Wort über dem Niveau seiner Leser und einen</a:t>
            </a:r>
          </a:p>
          <a:p>
            <a:r>
              <a:rPr i="0"/>
              <a:t>Befund insgesamt, eine nicht aufgelöste Abkürzung. Der Deutschkurs hat</a:t>
            </a:r>
          </a:p>
          <a:p>
            <a:r>
              <a:rPr i="0"/>
              <a:t>dreiundfünfzig zu schwere Wörter und siebenundfünfzig Befunde. Darunter</a:t>
            </a:r>
          </a:p>
          <a:p>
            <a:r>
              <a:rPr i="0"/>
              <a:t>Selbsteinschätzung, Fehleinschätzung und Umbuchung — Wörter, die man erst weit</a:t>
            </a:r>
          </a:p>
          <a:p>
            <a:r>
              <a:rPr i="0"/>
              <a:t>oberhalb des Kursziels lernt.</a:t>
            </a:r>
          </a:p>
          <a:p/>
          <a:p>
            <a:r>
              <a:rPr i="0"/>
              <a:t>Dabei sind beide Texte gleich einfach gebaut. Die Sätze sind in beiden Fällen</a:t>
            </a:r>
          </a:p>
          <a:p>
            <a:r>
              <a:rPr i="0"/>
              <a:t>kurz, im Schnitt neun und sieben Wörter. Ein Lesbarkeitsindex, der</a:t>
            </a:r>
          </a:p>
          <a:p>
            <a:r>
              <a:rPr i="0"/>
              <a:t>Satz- und Wortlängen zählt, findet bei keinem der beiden etwas. Er schweigt</a:t>
            </a:r>
          </a:p>
          <a:p>
            <a:r>
              <a:rPr i="0"/>
              <a:t>zweimal, und einmal davon zu Unrecht.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Deshalb reicht kein Werkzeug, das nur den Text ansieht. Man muss wissen, für</a:t>
            </a:r>
          </a:p>
          <a:p>
            <a:r>
              <a:rPr i="0"/>
              <a:t>wen der Text ist. Für Deutschkurse auf den Stufen A1 und A2 gibt es</a:t>
            </a:r>
          </a:p>
          <a:p>
            <a:r>
              <a:rPr i="0"/>
              <a:t>einunddreißig verschiedene Texte, und alle einunddreißig enthalten Wörter über</a:t>
            </a:r>
          </a:p>
          <a:p>
            <a:r>
              <a:rPr i="0"/>
              <a:t>dem Niveau ihrer Leser. Genau hier kann ein fachlich</a:t>
            </a:r>
          </a:p>
          <a:p>
            <a:r>
              <a:rPr i="0"/>
              <a:t>eingestellter Prompt etwas, was ein Standardwerkzeug nicht kann.</a:t>
            </a:r>
          </a:p>
          <a:p/>
          <a:p>
            <a:r>
              <a:rPr i="0"/>
              <a:t>### Nachtrag: warum 57 Prozent eine Untergrenze sind</a:t>
            </a:r>
          </a:p>
          <a:p/>
          <a:p>
            <a:r>
              <a:rPr i="0"/>
              <a:t>Noch einmal zu den siebenundfünfzig Prozent: Das ist eine Untergrenze. Mein</a:t>
            </a:r>
          </a:p>
          <a:p>
            <a:r>
              <a:rPr i="0"/>
              <a:t>Messskript prüft fünf der sechs Regeln; die erste, ob eine hervorgehobene</a:t>
            </a:r>
          </a:p>
          <a:p>
            <a:r>
              <a:rPr i="0"/>
              <a:t>Zeile eine Überschrift sein sollte, kann kein Skript entscheiden. Ich messe</a:t>
            </a:r>
          </a:p>
          <a:p>
            <a:r>
              <a:rPr i="0"/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Kurz die Rechtslage.</a:t>
            </a:r>
          </a:p>
          <a:p/>
          <a:p>
            <a:r>
              <a:rPr i="0"/>
              <a:t>### Was Barrierefreiheit heißt</a:t>
            </a:r>
          </a:p>
          <a:p/>
          <a:p>
            <a:r>
              <a:rPr i="0"/>
              <a:t>Digitale Barrierefreiheit bedeutet, dass eine Website auch für Menschen mit</a:t>
            </a:r>
          </a:p>
          <a:p>
            <a:r>
              <a:rPr i="0"/>
              <a:t>Behinderung nutzbar sein muss. Der Maßstab sind die WCAG, mit drei Stufen: A,</a:t>
            </a:r>
          </a:p>
          <a:p>
            <a:r>
              <a:rPr i="0"/>
              <a:t>doppel A und dreifach A.</a:t>
            </a:r>
          </a:p>
          <a:p/>
          <a:p>
            <a:r>
              <a:rPr i="0"/>
              <a:t>### Welches Recht gilt</a:t>
            </a:r>
          </a:p>
          <a:p/>
          <a:p>
            <a:r>
              <a:rPr i="0"/>
              <a:t>Für die vhs gilt weder die EU-Richtlinie noch das</a:t>
            </a:r>
          </a:p>
          <a:p>
            <a:r>
              <a:rPr i="0"/>
              <a:t>Barrierefreiheitsstärkungsgesetz unmittelbar. Sie ist eine kommunale</a:t>
            </a:r>
          </a:p>
          <a:p>
            <a:r>
              <a:rPr i="0"/>
              <a:t>Einrichtung in Hessen, also greift Landesrecht: Paragraph vierzehn des</a:t>
            </a:r>
          </a:p>
          <a:p>
            <a:r>
              <a:rPr i="0"/>
              <a:t>Hessischen Behindertengleichstellungsgesetzes und die hessische Verordnung.</a:t>
            </a:r>
          </a:p>
          <a:p>
            <a:r>
              <a:rPr i="0"/>
              <a:t>Gefordert wird Stufe doppel A.</a:t>
            </a:r>
          </a:p>
          <a:p/>
          <a:p>
            <a:r>
              <a:rPr i="0"/>
              <a:t>### Der Block in der Mitte: Pflicht und freiwillig</a:t>
            </a:r>
          </a:p>
          <a:p/>
          <a:p>
            <a:r>
              <a:rPr i="0"/>
              <a:t>Der Block in der Mitte zeigt nur die Kriterien, die am Text der</a:t>
            </a:r>
          </a:p>
          <a:p>
            <a:r>
              <a:rPr i="0"/>
              <a:t>Kursbeschreibung selbst hängen. Links steht, was daran verbindlich ist: dass</a:t>
            </a:r>
          </a:p>
          <a:p>
            <a:r>
              <a:rPr i="0"/>
              <a:t>eine Zeile, die eine Gliederungsebene eröffnet, auch technisch als Überschrift</a:t>
            </a:r>
          </a:p>
          <a:p>
            <a:r>
              <a:rPr i="0"/>
              <a:t>ausgezeichnet wird, und dass ein Linktext sagt, wohin er führt. Rechts steht,</a:t>
            </a:r>
          </a:p>
          <a:p>
            <a:r>
              <a:rPr i="0"/>
              <a:t>was freiwillig ist: dass Abkürzungen erklärt werden und dass das Leseniveau</a:t>
            </a:r>
          </a:p>
          <a:p>
            <a:r>
              <a:rPr i="0"/>
              <a:t>zur Zielgruppe passt. Beides ist dreifach A und damit nicht gefordert — und</a:t>
            </a:r>
          </a:p>
          <a:p>
            <a:r>
              <a:rPr i="0"/>
              <a:t>beides gehört zum Kern dieses Projekts. Zwei meiner Regeln liegen dagegen im</a:t>
            </a:r>
          </a:p>
          <a:p>
            <a:r>
              <a:rPr i="0"/>
              <a:t>Pflichtbereich; dazu gleich mehr.</a:t>
            </a:r>
          </a:p>
          <a:p/>
          <a:p>
            <a:r>
              <a:rPr i="0"/>
              <a:t>### Warum ich nicht mit dem Bußgeld argumentiere</a:t>
            </a:r>
          </a:p>
          <a:p/>
          <a:p>
            <a:r>
              <a:rPr i="0"/>
              <a:t>Ich könnte jetzt mit einem drohenden Bußgeld argumentieren. Das wäre bequem,</a:t>
            </a:r>
          </a:p>
          <a:p>
            <a:r>
              <a:rPr i="0"/>
              <a:t>und es wäre falsch.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Freiwillig heißt aber nicht belanglos. Paragraph drei Absatz eins der</a:t>
            </a:r>
          </a:p>
          <a:p>
            <a:r>
              <a:rPr i="0"/>
              <a:t>hessischen Verordnung verlangt eigenständig, dass Angebote verständlich sind.</a:t>
            </a:r>
          </a:p>
          <a:p>
            <a:r>
              <a:rPr i="0"/>
              <a:t>Die Konformitätsstufe begründet eine Vermutung, keine Obergrenze der Pflicht.</a:t>
            </a:r>
          </a:p>
          <a:p>
            <a:r>
              <a:rPr i="0"/>
              <a:t>Ich argumentiere also nicht gegen das Recht, sondern in einer Lücke, die es</a:t>
            </a:r>
          </a:p>
          <a:p>
            <a:r>
              <a:rPr i="0"/>
              <a:t>selbst offenlässt.</a:t>
            </a:r>
          </a:p>
          <a:p/>
          <a:p>
            <a:r>
              <a:rPr i="0"/>
              <a:t>Den eigentlichen Auftrag gibt sich das Unternehmen ohnehin selbst. Die</a:t>
            </a:r>
          </a:p>
          <a:p>
            <a:r>
              <a:rPr i="0"/>
              <a:t>Betriebssatzung sagt, die Angebote stünden allen offen, ohne Rücksicht auf</a:t>
            </a:r>
          </a:p>
          <a:p>
            <a:r>
              <a:rPr i="0"/>
              <a:t>Vorbildung. Für ein solches Unternehmen ist es nicht vertretbar, dass</a:t>
            </a:r>
          </a:p>
          <a:p>
            <a:r>
              <a:rPr i="0"/>
              <a:t>ausgerechnet die Kriterien für Menschen mit geringer Vorbildung die</a:t>
            </a:r>
          </a:p>
          <a:p>
            <a:r>
              <a:rPr i="0"/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Zur Lösung. Sie beginnt mit einer Abgrenzung, und die halte ich für den</a:t>
            </a:r>
          </a:p>
          <a:p>
            <a:r>
              <a:rPr i="0"/>
              <a:t>wichtigsten Teil meines Konzepts.</a:t>
            </a:r>
          </a:p>
          <a:p/>
          <a:p>
            <a:r>
              <a:rPr i="0"/>
              <a:t>### Linke Spalte: Das Seitengerüst</a:t>
            </a:r>
          </a:p>
          <a:p/>
          <a:p>
            <a:r>
              <a:rPr i="0"/>
              <a:t>Links steht, was am Gerüst der Seite hängt: Kontraste, Tastaturbedienung,</a:t>
            </a:r>
          </a:p>
          <a:p>
            <a:r>
              <a:rPr i="0"/>
              <a:t>Seitentitel, Navigation. Das kann man prüfen, ohne einen einzigen Kurs zu</a:t>
            </a:r>
          </a:p>
          <a:p>
            <a:r>
              <a:rPr i="0"/>
              <a:t>kennen. Es gilt für alle fünftausendachthundert Texte gleich, dafür gibt es</a:t>
            </a:r>
          </a:p>
          <a:p>
            <a:r>
              <a:rPr i="0"/>
              <a:t>etablierte Programme wie axe-core, und zuständig ist die städtische IT.</a:t>
            </a:r>
          </a:p>
          <a:p/>
          <a:p>
            <a:r>
              <a:rPr i="0"/>
              <a:t>### Rechte Spalte: Der einzelne Text</a:t>
            </a:r>
          </a:p>
          <a:p/>
          <a:p>
            <a:r>
              <a:rPr i="0"/>
              <a:t>Rechts steht, was am einzelnen Text hängt. Versteht die Zielgruppe genau</a:t>
            </a:r>
          </a:p>
          <a:p>
            <a:r>
              <a:rPr i="0"/>
              <a:t>dieses Kurses ihn? Diese Frage lässt sich nicht beantworten, ohne zu wissen,</a:t>
            </a:r>
          </a:p>
          <a:p>
            <a:r>
              <a:rPr i="0"/>
              <a:t>wer liest. Zuständig sind die Programmbereiche.</a:t>
            </a:r>
          </a:p>
          <a:p/>
          <a:p>
            <a:r>
              <a:rPr i="0"/>
              <a:t>### Der Kasten unten: wo die Trennlinie verläuft</a:t>
            </a:r>
          </a:p>
          <a:p/>
          <a:p>
            <a:r>
              <a:rPr i="0"/>
              <a:t>Die Trennlinie verläuft also nicht zwischen Sprache und Technik. Zwei meiner</a:t>
            </a:r>
          </a:p>
          <a:p>
            <a:r>
              <a:rPr i="0"/>
              <a:t>sechs Regeln sind selbst Pflichtkriterien der Barrierefreiheit. Ein Beispiel:</a:t>
            </a:r>
          </a:p>
          <a:p>
            <a:r>
              <a:rPr i="0"/>
              <a:t>eine hervorgehobene Zeile, die als Überschrift gemeint ist, aber im Quelltext</a:t>
            </a:r>
          </a:p>
          <a:p>
            <a:r>
              <a:rPr i="0"/>
              <a:t>keine ist. Das Prüfprogramm sieht dort nur Fließtext und meldet nichts. Ob</a:t>
            </a:r>
          </a:p>
          <a:p>
            <a:r>
              <a:rPr i="0"/>
              <a:t>diese Zeile eine Überschrift sein sollte, kann man dem Text nicht ansehen,</a:t>
            </a:r>
          </a:p>
          <a:p>
            <a:r>
              <a:rPr i="0"/>
              <a:t>sondern nur verstehen. Deshalb liegt ausgerechnet dieses Pflichtkriterium</a:t>
            </a:r>
          </a:p>
          <a:p>
            <a:r>
              <a:rPr i="0"/>
              <a:t>rechts.</a:t>
            </a:r>
          </a:p>
          <a:p/>
          <a:p>
            <a:r>
              <a:rPr i="0"/>
              <a:t>Diese Trennung hat sich beim Bauen dreimal selbst bestätigt. Drei Zusagen, die</a:t>
            </a:r>
          </a:p>
          <a:p>
            <a:r>
              <a:rPr i="0"/>
              <a:t>ich zuerst in den Prompt geschrieben hatte, hat das Modell nicht zuverlässig</a:t>
            </a:r>
          </a:p>
          <a:p>
            <a:r>
              <a:rPr i="0"/>
              <a:t>eingehalten. Alle drei stehen jetzt im Programmcode, weil sie feststehen und</a:t>
            </a:r>
          </a:p>
          <a:p>
            <a:r>
              <a:rPr i="0"/>
              <a:t>keine Einschätzung verlangen.</a:t>
            </a:r>
          </a:p>
          <a:p/>
          <a:p>
            <a:r>
              <a:rPr i="0"/>
              <a:t>### Technische Voraussetzungen</a:t>
            </a:r>
          </a:p>
          <a:p/>
          <a:p>
            <a:r>
              <a:rPr i="0"/>
              <a:t>Technisch braucht es den KI-Zugang, den der Volkshochschul-Verband ohnehin</a:t>
            </a:r>
          </a:p>
          <a:p>
            <a:r>
              <a:rPr i="0"/>
              <a:t>bereitstellt, einen dort angelegten Assistenten und die Wortliste als Datei.</a:t>
            </a:r>
          </a:p>
          <a:p>
            <a:r>
              <a:rPr i="0"/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Zum Kern der Aufgabe, dem System-Prompt. Er folgt der Sechs-Komponenten-</a:t>
            </a:r>
          </a:p>
          <a:p>
            <a:r>
              <a:rPr i="0"/>
              <a:t>Struktur aus dem Aufgabenblatt.</a:t>
            </a:r>
          </a:p>
          <a:p/>
          <a:p>
            <a:r>
              <a:rPr i="0"/>
              <a:t>### Rolle, Aufgabe, Format</a:t>
            </a:r>
          </a:p>
          <a:p/>
          <a:p>
            <a:r>
              <a:rPr i="0"/>
              <a:t>Die ROLLE macht ihn zur Redaktionsassistenz, nicht zur Autorin. Die AUFGABE</a:t>
            </a:r>
          </a:p>
          <a:p>
            <a:r>
              <a:rPr i="0"/>
              <a:t>schreibt die Reihenfolge vor: erst die Zielgruppe bestimmen, dann prüfen. Das</a:t>
            </a:r>
          </a:p>
          <a:p>
            <a:r>
              <a:rPr i="0"/>
              <a:t>FORMAT erzwingt zu jedem Befund ein wörtliches Zitat, eine Begründung und</a:t>
            </a:r>
          </a:p>
          <a:p>
            <a:r>
              <a:rPr i="0"/>
              <a:t>einen konkreten Vorschlag. Ohne Vorschlag kein Befund.</a:t>
            </a:r>
          </a:p>
          <a:p/>
          <a:p>
            <a:r>
              <a:rPr i="0"/>
              <a:t>### Kontext: die Wortliste</a:t>
            </a:r>
          </a:p>
          <a:p/>
          <a:p>
            <a:r>
              <a:rPr i="0"/>
              <a:t>Der KONTEXT enthält das Hauswissen: die acht Programmbereiche, die internen</a:t>
            </a:r>
          </a:p>
          <a:p>
            <a:r>
              <a:rPr i="0"/>
              <a:t>Abkürzungen, sechs Prüfregeln und — der wichtigste Teil — achthundertzwanzig</a:t>
            </a:r>
          </a:p>
          <a:p>
            <a:r>
              <a:rPr i="0"/>
              <a:t>Wörter des Prüfungswortschatzes für das Goethe-Zertifikat A1. Diese Liste</a:t>
            </a:r>
          </a:p>
          <a:p>
            <a:r>
              <a:rPr i="0"/>
              <a:t>steht vollständig im Prompt, nicht als Verweis. Er schätzt das Sprachniveau</a:t>
            </a:r>
          </a:p>
          <a:p>
            <a:r>
              <a:rPr i="0"/>
              <a:t>also nicht, sondern begründet es.</a:t>
            </a:r>
          </a:p>
          <a:p/>
          <a:p>
            <a:r>
              <a:rPr i="0"/>
              <a:t>Das ist das Ergebnis der ersten Überarbeitung. In meiner ersten Fassung</a:t>
            </a:r>
          </a:p>
          <a:p>
            <a:r>
              <a:rPr i="0"/>
              <a:t>behauptete der Prompt, gegen die Wortlisten zu prüfen, hatte sie aber gar</a:t>
            </a:r>
          </a:p>
          <a:p>
            <a:r>
              <a:rPr i="0"/>
              <a:t>nicht. Er schätzte weiter frei und klang dabei nach Beleg — derselbe Fehler,</a:t>
            </a:r>
          </a:p>
          <a:p>
            <a:r>
              <a:rPr i="0"/>
              <a:t>den ich anderen Werkzeugen vorwerfe. Der Grundstock dieser Listen stammt</a:t>
            </a:r>
          </a:p>
          <a:p>
            <a:r>
              <a:rPr i="0"/>
              <a:t>übrigens laut Goethe-Institut aus einer Veröffentlichung der Prüfungszentrale</a:t>
            </a:r>
          </a:p>
          <a:p>
            <a:r>
              <a:rPr i="0"/>
              <a:t>des Deutschen Volkshochschulverbands in Frankfurt.</a:t>
            </a:r>
          </a:p>
          <a:p/>
          <a:p>
            <a:r>
              <a:rPr i="0"/>
              <a:t>### Der Kasten unten: die Zeile Grenzen</a:t>
            </a:r>
          </a:p>
          <a:p/>
          <a:p>
            <a:r>
              <a:rPr i="0"/>
              <a:t>In der Zeile GRENZEN steht: bewertet Texte, niemals Personen. Dieser eine Satz</a:t>
            </a:r>
          </a:p>
          <a:p>
            <a:r>
              <a:rPr i="0"/>
              <a:t>leistet zweierlei. Er hält das Projekt aus dem Hochrisikobereich der KI-</a:t>
            </a:r>
          </a:p>
          <a:p>
            <a:r>
              <a:rPr i="0"/>
              <a:t>Verordnung heraus, denn hoch eingestuft wird dort nur, was Menschen bewertet —</a:t>
            </a:r>
          </a:p>
          <a:p>
            <a:r>
              <a:rPr i="0"/>
              <a:t>dieses System bewertet Texte. Und er ist die Antwort auf die Frage des</a:t>
            </a:r>
          </a:p>
          <a:p>
            <a:r>
              <a:rPr i="0"/>
              <a:t>Personalrats, ob 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Bleibt die Frage, wie das in den Alltag kommt. Dafür gibt es zwei Wege, und</a:t>
            </a:r>
          </a:p>
          <a:p>
            <a:r>
              <a:rPr i="0"/>
              <a:t>beide stehen vom ersten Tag an offen.</a:t>
            </a:r>
          </a:p>
          <a:p/>
          <a:p>
            <a:r>
              <a:rPr i="0"/>
              <a:t>### Weg 1: Als KI-Assistent bei fobizz</a:t>
            </a:r>
          </a:p>
          <a:p/>
          <a:p>
            <a:r>
              <a:rPr i="0"/>
              <a:t>Der erste braucht keine eigene Technik. Der Deutsche Volkshochschul-Verband</a:t>
            </a:r>
          </a:p>
          <a:p>
            <a:r>
              <a:rPr i="0"/>
              <a:t>hat im Mai zweitausendfünfundzwanzig eine Rahmenvereinbarung mit einem</a:t>
            </a:r>
          </a:p>
          <a:p>
            <a:r>
              <a:rPr i="0"/>
              <a:t>Anbieter namens fobizz geschlossen. Mitarbeitende aller Volkshochschulen in</a:t>
            </a:r>
          </a:p>
          <a:p>
            <a:r>
              <a:rPr i="0"/>
              <a:t>Deutschland haben darüber datenschutzkonformen Zugang zu KI-Anwendungen, und</a:t>
            </a:r>
          </a:p>
          <a:p>
            <a:r>
              <a:rPr i="0"/>
              <a:t>man kann dort eigene Assistenten mit eigenen Anweisungen anlegen. Genau das</a:t>
            </a:r>
          </a:p>
          <a:p>
            <a:r>
              <a:rPr i="0"/>
              <a:t>ist mein Prompt. Zustimmung außerhalb des Pilotbereichs braucht es dafür</a:t>
            </a:r>
          </a:p>
          <a:p>
            <a:r>
              <a:rPr i="0"/>
              <a:t>nicht, weil der Rahmenvertrag schon da ist. Zu klären ist allerdings, ob die</a:t>
            </a:r>
          </a:p>
          <a:p>
            <a:r>
              <a:rPr i="0"/>
              <a:t>vhs Frankfurt die Lizenz auch tatsächlich gebucht hat — der Rahmenvertrag</a:t>
            </a:r>
          </a:p>
          <a:p>
            <a:r>
              <a:rPr i="0"/>
              <a:t>schafft die Möglichkeit, er ist nicht die Buchung.</a:t>
            </a:r>
          </a:p>
          <a:p/>
          <a:p>
            <a:r>
              <a:rPr i="0"/>
              <a:t>### Die Einschränkung zu Weg 1</a:t>
            </a:r>
          </a:p>
          <a:p/>
          <a:p>
            <a:r>
              <a:rPr i="0"/>
              <a:t>Eine Einschränkung gehört dazu, denn diesen Weg habe ich nicht ausprobiert:</a:t>
            </a:r>
          </a:p>
          <a:p>
            <a:r>
              <a:rPr i="0"/>
              <a:t>Mein Prüfwerkzeug bearbeitet jede Antwort nach. Es rechnet die Einstufung</a:t>
            </a:r>
          </a:p>
          <a:p>
            <a:r>
              <a:rPr i="0"/>
              <a:t>anhand einer Tabelle nach und entfernt Personennamen. Beides stand</a:t>
            </a:r>
          </a:p>
          <a:p>
            <a:r>
              <a:rPr i="0"/>
              <a:t>ursprünglich im Prompt, und beides hielt das Modell nicht zuverlässig ein —</a:t>
            </a:r>
          </a:p>
          <a:p>
            <a:r>
              <a:rPr i="0"/>
              <a:t>deshalb steht es heute im Programmcode. In einem fremden Assistenten gibt es</a:t>
            </a:r>
          </a:p>
          <a:p>
            <a:r>
              <a:rPr i="0"/>
              <a:t>diesen Code nicht. Was das praktisch bedeutet, muss der Pilot zeigen.</a:t>
            </a:r>
          </a:p>
          <a:p/>
          <a:p>
            <a:r>
              <a:rPr i="0"/>
              <a:t>### Weg 2: Als eigenes Prüfwerkzeug</a:t>
            </a:r>
          </a:p>
          <a:p/>
          <a:p>
            <a:r>
              <a:rPr i="0"/>
              <a:t>Der zweite Weg ist das Prüfwerkzeug, das ich gebaut habe. Dort fügt man den</a:t>
            </a:r>
          </a:p>
          <a:p>
            <a:r>
              <a:rPr i="0"/>
              <a:t>Entwurf ein — oder gibt bei einem vorhandenen Kurs nur die Nummer ein, dann</a:t>
            </a:r>
          </a:p>
          <a:p>
            <a:r>
              <a:rPr i="0"/>
              <a:t>holt es den Text selbst. Die Schnittstelle des Kursportals ist öffentlich, das</a:t>
            </a:r>
          </a:p>
          <a:p>
            <a:r>
              <a:rPr i="0"/>
              <a:t>kostet keinen Zugang; es braucht nur einen eigenen Server.</a:t>
            </a:r>
          </a:p>
          <a:p/>
          <a:p>
            <a:r>
              <a:rPr i="0"/>
              <a:t>### Rechts im Bild: ein Befund</a:t>
            </a:r>
          </a:p>
          <a:p/>
          <a:p>
            <a:r>
              <a:rPr i="0"/>
              <a:t>Rechts steht, was dabei herauskommt: ein Befund aus einem echten Durchlauf,</a:t>
            </a:r>
          </a:p>
          <a:p>
            <a:r>
              <a:rPr i="0"/>
              <a:t>dem Deutschkurs auf A2. Jeder Befund hat dieselben vier Teile: die Einstufung,</a:t>
            </a:r>
          </a:p>
          <a:p>
            <a:r>
              <a:rPr i="0"/>
              <a:t>die Regel, die wörtliche Stelle aus dem Text und einen konkreten Vorschlag.</a:t>
            </a:r>
          </a:p>
          <a:p>
            <a:r>
              <a:rPr i="0"/>
              <a:t>Dieser hier ist Pflicht, der Link heißt schlicht „hier“. Wer sich die Seite</a:t>
            </a:r>
          </a:p>
          <a:p>
            <a:r>
              <a:rPr i="0"/>
              <a:t>vorlesen lässt und von Link zu Link springt, hört nur „hier“. Der Vorschlag</a:t>
            </a:r>
          </a:p>
          <a:p>
            <a:r>
              <a:rPr i="0"/>
              <a:t>daneben ist kein Kommentar, sondern fertiger Text zum Übernehmen.</a:t>
            </a:r>
          </a:p>
          <a:p/>
          <a:p>
            <a:r>
              <a:rPr i="0"/>
              <a:t>### Hier die Vorführung</a:t>
            </a:r>
          </a:p>
          <a:p/>
          <a:p>
            <a:r>
              <a:rPr i="0"/>
              <a:t>Ich zeige euch das kurz live, an genau diesem Kurs.</a:t>
            </a:r>
          </a:p>
          <a:p/>
          <a:p>
            <a:r>
              <a:rPr i="0"/>
              <a:t>Das ist ein Prototyp, den ich für diese Arbeit gebaut habe. Er belegt, dass</a:t>
            </a:r>
          </a:p>
          <a:p>
            <a:r>
              <a:rPr i="0"/>
              <a:t>der Weg funktioniert, er ist keine fertige Anwendung.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Die Nachbemerkung unten ist kein Teil des Pilotprojekts. Man könnte die</a:t>
            </a:r>
          </a:p>
          <a:p>
            <a:r>
              <a:rPr i="0"/>
              <a:t>Prüfung ins Redaktionssystem selbst einbauen, dort, wo der Text entsteht. Nur</a:t>
            </a:r>
          </a:p>
          <a:p>
            <a:r>
              <a:rPr i="0"/>
              <a:t>wird das Portal von einem externen Dienstleister betreut, also hieße das:</a:t>
            </a:r>
          </a:p>
          <a:p>
            <a:r>
              <a:rPr i="0"/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Damit zum Change-Teil, und der beginnt mit den </a:t>
            </a:r>
            <a:r>
              <a:rPr b="1" i="0"/>
              <a:t>Stakeholdern</a:t>
            </a:r>
            <a:r>
              <a:rPr i="0"/>
              <a:t>. Die</a:t>
            </a:r>
          </a:p>
          <a:p>
            <a:r>
              <a:rPr b="1" i="0"/>
              <a:t>Einfluss-Betroffenheits-Matrix</a:t>
            </a:r>
            <a:r>
              <a:rPr i="0"/>
              <a:t> sortiert sie nach zwei Fragen: Wer ist</a:t>
            </a:r>
          </a:p>
          <a:p>
            <a:r>
              <a:rPr i="0"/>
              <a:t>betroffen, und wer hat Einfluss.</a:t>
            </a:r>
          </a:p>
          <a:p/>
          <a:p>
            <a:r>
              <a:rPr i="0"/>
              <a:t>### Oben rechts: Eng einbinden</a:t>
            </a:r>
          </a:p>
          <a:p/>
          <a:p>
            <a:r>
              <a:rPr i="0"/>
              <a:t>Wer entscheidet oder zustimmen muss.</a:t>
            </a:r>
          </a:p>
          <a:p/>
          <a:p>
            <a:r>
              <a:rPr b="1" i="0"/>
              <a:t>Der Direktor</a:t>
            </a:r>
            <a:r>
              <a:rPr i="0"/>
              <a:t> — laut Impressum persönlich für die redaktionellen Inhalte</a:t>
            </a:r>
          </a:p>
          <a:p>
            <a:r>
              <a:rPr i="0"/>
              <a:t>verantwortlich.</a:t>
            </a:r>
          </a:p>
          <a:p/>
          <a:p>
            <a:r>
              <a:rPr b="1" i="0"/>
              <a:t>Der Fachbereich des Pilotbereichs</a:t>
            </a:r>
            <a:r>
              <a:rPr i="0"/>
              <a:t> — er entscheidet über den Text. Und</a:t>
            </a:r>
          </a:p>
          <a:p>
            <a:r>
              <a:rPr i="0"/>
              <a:t>zwar nur dieser eine: Vier Fachbereiche gleichzeitig wären kein Pilot mehr.</a:t>
            </a:r>
          </a:p>
          <a:p/>
          <a:p>
            <a:r>
              <a:rPr b="1" i="0"/>
              <a:t>Die Redaktion des Programmhefts</a:t>
            </a:r>
            <a:r>
              <a:rPr i="0"/>
              <a:t> — prüft Texte für den Druck schon heute,</a:t>
            </a:r>
          </a:p>
          <a:p>
            <a:r>
              <a:rPr i="0"/>
              <a:t>weiß also, wie Textprüfung geht.</a:t>
            </a:r>
          </a:p>
          <a:p/>
          <a:p>
            <a:r>
              <a:rPr b="1" i="0"/>
              <a:t>Der Personalrat</a:t>
            </a:r>
            <a:r>
              <a:rPr i="0"/>
              <a:t> — hier ist die Einordnung eigentlich zu schwach. Sein</a:t>
            </a:r>
          </a:p>
          <a:p>
            <a:r>
              <a:rPr i="0"/>
              <a:t>Einfluss ist kein hoher, sondern ein </a:t>
            </a:r>
            <a:r>
              <a:rPr b="1" i="0"/>
              <a:t>sperrender</a:t>
            </a:r>
            <a:r>
              <a:rPr i="0"/>
              <a:t>: Die Einführung des</a:t>
            </a:r>
          </a:p>
          <a:p>
            <a:r>
              <a:rPr i="0"/>
              <a:t>Werkzeugs ist mitbestimmungspflichtig, sie braucht seine Zustimmung. Seine</a:t>
            </a:r>
          </a:p>
          <a:p>
            <a:r>
              <a:rPr i="0"/>
              <a:t>zwei von sechzehn Sitzen in der Betriebskommission sind daneben bedeutungslos.</a:t>
            </a:r>
          </a:p>
          <a:p/>
          <a:p>
            <a:r>
              <a:rPr i="0"/>
              <a:t>### Unten links: Informieren</a:t>
            </a:r>
          </a:p>
          <a:p/>
          <a:p>
            <a:r>
              <a:rPr i="0"/>
              <a:t>Nur dieser eine Fachbereich ist im Pilot — die anderen erfahren davon.</a:t>
            </a:r>
          </a:p>
          <a:p/>
          <a:p>
            <a:r>
              <a:rPr b="1" i="0"/>
              <a:t>Die drei übrigen Fachbereiche</a:t>
            </a:r>
            <a:r>
              <a:rPr i="0"/>
              <a:t> — sollen wissen, dass es läuft, und sehen,</a:t>
            </a:r>
          </a:p>
          <a:p>
            <a:r>
              <a:rPr i="0"/>
              <a:t>was herauskommt. Im Pilot sind sie nicht dabei.</a:t>
            </a:r>
          </a:p>
          <a:p/>
          <a:p>
            <a:r>
              <a:rPr i="0"/>
              <a:t>### Oben links: Beobachten</a:t>
            </a:r>
          </a:p>
          <a:p/>
          <a:p>
            <a:r>
              <a:rPr i="0"/>
              <a:t>Hoher Einfluss, aber mein Projekt verändert ihre Arbeit nicht.</a:t>
            </a:r>
          </a:p>
          <a:p/>
          <a:p>
            <a:r>
              <a:rPr b="1" i="0"/>
              <a:t>Die städtische IT</a:t>
            </a:r>
            <a:r>
              <a:rPr i="0"/>
              <a:t> — bleibt für die technische Seite zuständig.</a:t>
            </a:r>
          </a:p>
          <a:p/>
          <a:p>
            <a:r>
              <a:rPr b="1" i="0"/>
              <a:t>Advellence</a:t>
            </a:r>
            <a:r>
              <a:rPr i="0"/>
              <a:t> — die Schweizer Firma, die laut Impressum das Portal</a:t>
            </a:r>
          </a:p>
          <a:p>
            <a:r>
              <a:rPr i="0"/>
              <a:t>programmiert.</a:t>
            </a:r>
          </a:p>
          <a:p/>
          <a:p>
            <a:r>
              <a:rPr b="1" i="0"/>
              <a:t>Die Betriebskommission</a:t>
            </a:r>
            <a:r>
              <a:rPr i="0"/>
              <a:t> — Aufsichtsgremium.</a:t>
            </a:r>
          </a:p>
          <a:p/>
          <a:p>
            <a:r>
              <a:rPr b="1" i="0"/>
              <a:t>Der Volkshochschul-Verband</a:t>
            </a:r>
            <a:r>
              <a:rPr i="0"/>
              <a:t> — stellt den KI-Zugang, den ich nutze.</a:t>
            </a:r>
          </a:p>
          <a:p/>
          <a:p>
            <a:r>
              <a:rPr i="0"/>
              <a:t>### Unten rechts: Konsultieren</a:t>
            </a:r>
          </a:p>
          <a:p/>
          <a:p>
            <a:r>
              <a:rPr i="0"/>
              <a:t>Der Quadrant, der mich am meisten beschäftigt hat.</a:t>
            </a:r>
          </a:p>
          <a:p/>
          <a:p>
            <a:r>
              <a:rPr b="1" i="0"/>
              <a:t>Die Kursleitungen auf Honorarbasis</a:t>
            </a:r>
            <a:r>
              <a:rPr i="0"/>
              <a:t> — maximal betroffen, denn in der</a:t>
            </a:r>
          </a:p>
          <a:p>
            <a:r>
              <a:rPr i="0"/>
              <a:t>Branche schreiben sie viele dieser Texte. In keinem Gremium sitzen sie, und</a:t>
            </a:r>
          </a:p>
          <a:p>
            <a:r>
              <a:rPr i="0"/>
              <a:t>vorschreiben kann man ihnen als Honorarkräften nichts. Einen Kanal haben sie</a:t>
            </a:r>
          </a:p>
          <a:p>
            <a:r>
              <a:rPr i="0"/>
              <a:t>aber doch: Arbeitnehmerähnliche Personen gelten nach dem</a:t>
            </a:r>
          </a:p>
          <a:p>
            <a:r>
              <a:rPr i="0"/>
              <a:t>Personalvertretungsgesetz als Beschäftigte, der Personalrat vertritt sie mit.</a:t>
            </a:r>
          </a:p>
          <a:p/>
          <a:p>
            <a:r>
              <a:rPr b="1" i="0"/>
              <a:t>Die Teilnehmenden</a:t>
            </a:r>
            <a:r>
              <a:rPr i="0"/>
              <a:t> — besonders in den Deutschkursen und in der</a:t>
            </a:r>
          </a:p>
          <a:p>
            <a:r>
              <a:rPr i="0"/>
              <a:t>Grundbildung. Für sie ist das ganze Projekt gemacht, und sie haben keine</a:t>
            </a:r>
          </a:p>
          <a:p>
            <a:r>
              <a:rPr i="0"/>
              <a:t>Stimme, in keinem Gremium und in keinem Gesetz.</a:t>
            </a:r>
          </a:p>
          <a:p/>
          <a:p>
            <a:r>
              <a:rPr i="0"/>
              <a:t>Bei ihnen ist Beteiligung kein guter Stil, sondern das einzige Instrument, das</a:t>
            </a:r>
          </a:p>
          <a:p>
            <a:r>
              <a:rPr i="0"/>
              <a:t>überhaupt zur Verfügung steht. Was das praktisch heißt, steht auf der nächsten</a:t>
            </a:r>
          </a:p>
          <a:p>
            <a:r>
              <a:rPr i="0"/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Jetzt zum Widerstand. Der Unterricht nennt vier Ursachen: Unsicherheit,</a:t>
            </a:r>
          </a:p>
          <a:p>
            <a:r>
              <a:rPr i="0"/>
              <a:t>Verlustangst, fehlende Perspektive und Gewohnheit. Ich zeige für jede einen</a:t>
            </a:r>
          </a:p>
          <a:p>
            <a:r>
              <a:rPr i="0"/>
              <a:t>Fall, den es hier wirklich gibt.</a:t>
            </a:r>
          </a:p>
          <a:p/>
          <a:p>
            <a:r>
              <a:rPr i="0"/>
              <a:t>### Unsicherheit · im ganzen Haus</a:t>
            </a:r>
          </a:p>
          <a:p/>
          <a:p>
            <a:r>
              <a:rPr i="0"/>
              <a:t>Die Frage, die im ganzen Haus als Erstes kommt: Schreibt die</a:t>
            </a:r>
          </a:p>
          <a:p>
            <a:r>
              <a:rPr i="0"/>
              <a:t>KI jetzt unsere Texte? Nein. Sie schlägt vor, mehr nicht. Entschieden und</a:t>
            </a:r>
          </a:p>
          <a:p>
            <a:r>
              <a:rPr i="0"/>
              <a:t>veröffentlicht wird von Menschen. Das ist keine Beruhigung, sondern der</a:t>
            </a:r>
          </a:p>
          <a:p>
            <a:r>
              <a:rPr i="0"/>
              <a:t>Zuschnitt des Werkzeugs.</a:t>
            </a:r>
          </a:p>
          <a:p/>
          <a:p>
            <a:r>
              <a:rPr i="0"/>
              <a:t>### Verlustangst · Fachbereich</a:t>
            </a:r>
          </a:p>
          <a:p/>
          <a:p>
            <a:r>
              <a:rPr i="0"/>
              <a:t>Der einzige Einwand, der noch offen ist. Eine Kursbeschreibung ist selten von</a:t>
            </a:r>
          </a:p>
          <a:p>
            <a:r>
              <a:rPr i="0"/>
              <a:t>einer Hand: Der Anmeldehinweis, die Beschreibung der Niveaustufe — solche</a:t>
            </a:r>
          </a:p>
          <a:p>
            <a:r>
              <a:rPr i="0"/>
              <a:t>Bausteine stehen wortgleich in vielen Kursen und werden nicht in dem Bereich</a:t>
            </a:r>
          </a:p>
          <a:p>
            <a:r>
              <a:rPr i="0"/>
              <a:t>gepflegt, der den Kurs anbietet. Wer die Befunde bekommt, darf den Text also</a:t>
            </a:r>
          </a:p>
          <a:p>
            <a:r>
              <a:rPr i="0"/>
              <a:t>oft gar nicht ändern. Das ist keine Angst vor der Maschine, sondern die</a:t>
            </a:r>
          </a:p>
          <a:p>
            <a:r>
              <a:rPr i="0"/>
              <a:t>Aussicht, für etwas geradezustehen, das einem nicht gehört. Die Antwort ist</a:t>
            </a:r>
          </a:p>
          <a:p>
            <a:r>
              <a:rPr i="0"/>
              <a:t>deshalb keine Schulung, sondern eine Zuständigkeitsfrage — und die gehört vor</a:t>
            </a:r>
          </a:p>
          <a:p>
            <a:r>
              <a:rPr i="0"/>
              <a:t>den Pilot.</a:t>
            </a:r>
          </a:p>
          <a:p/>
          <a:p>
            <a:r>
              <a:rPr i="0"/>
              <a:t>### Fehlende Perspektive · Kursleitung</a:t>
            </a:r>
          </a:p>
          <a:p/>
          <a:p>
            <a:r>
              <a:rPr i="0"/>
              <a:t>Bei den Honorarkräften schärfer als bei allen</a:t>
            </a:r>
          </a:p>
          <a:p>
            <a:r>
              <a:rPr i="0"/>
              <a:t>anderen, weil ihre Abrechnungseinheit die Unterrichtsstunde ist. Textarbeit</a:t>
            </a:r>
          </a:p>
          <a:p>
            <a:r>
              <a:rPr i="0"/>
              <a:t>kommt darin nicht vor, der Einwand ist also berechtigt und gehört auch so</a:t>
            </a:r>
          </a:p>
          <a:p>
            <a:r>
              <a:rPr i="0"/>
              <a:t>beantwortet. Die Antwort ist der Zuschnitt: Geprüft wird im</a:t>
            </a:r>
          </a:p>
          <a:p>
            <a:r>
              <a:rPr i="0"/>
              <a:t>Fachbereich, an dem Text, der dort eingeht. Das schützt auch ihren Status:</a:t>
            </a:r>
          </a:p>
          <a:p>
            <a:r>
              <a:rPr i="0"/>
              <a:t>Verbindliche Regeln und ein Protokoll je Text wären genau die Merkmale, an</a:t>
            </a:r>
          </a:p>
          <a:p>
            <a:r>
              <a:rPr i="0"/>
              <a:t>denen sich eine Scheinselbständigkeit festmachen lässt.</a:t>
            </a:r>
          </a:p>
          <a:p/>
          <a:p>
            <a:r>
              <a:rPr i="0"/>
              <a:t>### Gewohnheit · Redaktion des Programmhefts</a:t>
            </a:r>
          </a:p>
          <a:p/>
          <a:p>
            <a:r>
              <a:rPr i="0"/>
              <a:t>Der Satz, der jedes Qualitätsprojekt begleitet: Es hat sich doch nie jemand</a:t>
            </a:r>
          </a:p>
          <a:p>
            <a:r>
              <a:rPr i="0"/>
              <a:t>beschwert. Und er stimmt vermutlich. Entscheidend ist, wie man darauf antwortet:</a:t>
            </a:r>
          </a:p>
          <a:p>
            <a:r>
              <a:rPr i="0"/>
              <a:t>Diese Redaktion prüft Texte im Haus als Einzige schon heute. Sie ist keine</a:t>
            </a:r>
          </a:p>
          <a:p>
            <a:r>
              <a:rPr i="0"/>
              <a:t>Bremse, sie ist der nächstliegende Verbündete, und so sollte man ihr auch</a:t>
            </a:r>
          </a:p>
          <a:p>
            <a:r>
              <a:rPr i="0"/>
              <a:t>begegnen. Der Punkt ist nur: Wer sich beschwert, hat den Text gelesen und</a:t>
            </a:r>
          </a:p>
          <a:p>
            <a:r>
              <a:rPr i="0"/>
              <a:t>verstanden. Die Menschen, um die es hier geht, fragen nicht nach und melden sich</a:t>
            </a:r>
          </a:p>
          <a:p>
            <a:r>
              <a:rPr i="0"/>
              <a:t>auch nicht an. Ihr Fehlen sieht von innen aus wie Zufriedenheit — dass es bisher</a:t>
            </a:r>
          </a:p>
          <a:p>
            <a:r>
              <a:rPr i="0"/>
              <a:t>niemand gesehen hat, ist deshalb kein Versäumnis, sondern liegt in der Sache.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Der Zeitplan, drei Monate, drei Stränge, die neun Phasen aus der</a:t>
            </a:r>
          </a:p>
          <a:p>
            <a:r>
              <a:rPr i="0"/>
              <a:t>Aufgabenstellung als Überschrift jeder Zelle. Die Zellen könnt ihr mitlesen,</a:t>
            </a:r>
          </a:p>
          <a:p>
            <a:r>
              <a:rPr i="0"/>
              <a:t>ich hebe zwei Dinge heraus.</a:t>
            </a:r>
          </a:p>
          <a:p/>
          <a:p>
            <a:r>
              <a:rPr i="0"/>
              <a:t>### Monat 2, Strang Kommunikation: Training</a:t>
            </a:r>
          </a:p>
          <a:p/>
          <a:p>
            <a:r>
              <a:rPr i="0"/>
              <a:t>Erstens das Training im zweiten Monat. Das ist keine Kür, sondern Pflicht:</a:t>
            </a:r>
          </a:p>
          <a:p>
            <a:r>
              <a:rPr i="0"/>
              <a:t>Artikel vier der KI-Verordnung verlangt seit Februar zweitausendfünfundzwanzig</a:t>
            </a:r>
          </a:p>
          <a:p>
            <a:r>
              <a:rPr i="0"/>
              <a:t>ausreichende KI-Kompetenz, und zwar für das Personal und für alle, die im</a:t>
            </a:r>
          </a:p>
          <a:p>
            <a:r>
              <a:rPr i="0"/>
              <a:t>Auftrag mit Betrieb und Nutzung befasst sind. Deshalb steht in der Zelle nicht</a:t>
            </a:r>
          </a:p>
          <a:p>
            <a:r>
              <a:rPr i="0"/>
              <a:t>Personal, sondern alle, die bedienen. Wer nicht bedient, braucht die Schulung</a:t>
            </a:r>
          </a:p>
          <a:p>
            <a:r>
              <a:rPr i="0"/>
              <a:t>nicht — das ist der Grund, warum die Kursleitungen aus dieser Kette bleiben.</a:t>
            </a:r>
          </a:p>
          <a:p/>
          <a:p>
            <a:r>
              <a:rPr i="0"/>
              <a:t>### Strang Change: erst fragen, dann handeln</a:t>
            </a:r>
          </a:p>
          <a:p/>
          <a:p>
            <a:r>
              <a:rPr i="0"/>
              <a:t>Und zweitens die Reihenfolge im Change-Strang: erst fragen, dann handeln. Die</a:t>
            </a:r>
          </a:p>
          <a:p>
            <a:r>
              <a:rPr i="0"/>
              <a:t>Freigabe der Textbausteine steht deshalb im ersten Monat und nicht im zweiten,</a:t>
            </a:r>
          </a:p>
          <a:p>
            <a:r>
              <a:rPr i="0"/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Die ersten dreißig Tage, und das ist keine Aufzählung, sondern eine</a:t>
            </a:r>
          </a:p>
          <a:p>
            <a:r>
              <a:rPr i="0"/>
              <a:t>Reihenfolge: Jeder Schritt bedingt den nächsten.</a:t>
            </a:r>
          </a:p>
          <a:p/>
          <a:p>
            <a:r>
              <a:rPr i="0"/>
              <a:t>### Die vier Schritte</a:t>
            </a:r>
          </a:p>
          <a:p>
            <a:r>
              <a:rPr i="0"/>
              <a:t>Die Dienstvereinbarung zuerst, aus dem Grund von eben. Dann einen</a:t>
            </a:r>
          </a:p>
          <a:p>
            <a:r>
              <a:rPr i="0"/>
              <a:t>Programmbereich gewinnen, und zwar freiwillig — ein zugewiesener liefert kein</a:t>
            </a:r>
          </a:p>
          <a:p>
            <a:r>
              <a:rPr i="0"/>
              <a:t>belastbares Ergebnis, sondern nur Erfüllung. Dann die Freigabe der Bausteine.</a:t>
            </a:r>
          </a:p>
          <a:p>
            <a:r>
              <a:rPr i="0"/>
              <a:t>Und erst als viertes das Technische, den Assistenten anlegen. Es kostet nichts:</a:t>
            </a:r>
          </a:p>
          <a:p>
            <a:r>
              <a:rPr i="0"/>
              <a:t>kein Einkauf, keine neue Stelle, der KI-Zugang ist da.</a:t>
            </a:r>
          </a:p>
          <a:p/>
          <a:p>
            <a:r>
              <a:rPr i="0"/>
              <a:t>### Der Kasten unten: der dritte Schritt</a:t>
            </a:r>
          </a:p>
          <a:p/>
          <a:p>
            <a:r>
              <a:rPr i="0"/>
              <a:t>Der dritte Schritt ist der, den man am ehesten überspringt, und der teuerste.</a:t>
            </a:r>
          </a:p>
          <a:p>
            <a:r>
              <a:rPr i="0"/>
              <a:t>Lässt man ihn aus, liefert der Pilot eine Liste von Befunden, die im</a:t>
            </a:r>
          </a:p>
          <a:p>
            <a:r>
              <a:rPr i="0"/>
              <a:t>Pilotbereich niemand ändern darf — und das Werkzeug hat sich beim ersten</a:t>
            </a:r>
          </a:p>
          <a:p>
            <a:r>
              <a:rPr i="0"/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Und woran würde man merken, ob es gewirkt hat?</a:t>
            </a:r>
          </a:p>
          <a:p/>
          <a:p>
            <a:r>
              <a:rPr i="0"/>
              <a:t>### Die ersten drei Kennzahlen</a:t>
            </a:r>
          </a:p>
          <a:p/>
          <a:p>
            <a:r>
              <a:rPr i="0"/>
              <a:t>Vier Kennzahlen mit Ausgangswert und Ziel. Die Befundquote soll von</a:t>
            </a:r>
          </a:p>
          <a:p>
            <a:r>
              <a:rPr i="0"/>
              <a:t>siebenundfünfzig Prozent unter fünfundzwanzig fallen. Alle neuen Texte im</a:t>
            </a:r>
          </a:p>
          <a:p>
            <a:r>
              <a:rPr i="0"/>
              <a:t>Pilotbereich sollen geprüft sein. Und von den einunddreißig Texten für</a:t>
            </a:r>
          </a:p>
          <a:p>
            <a:r>
              <a:rPr i="0"/>
              <a:t>Deutschkurse auf A1 und A2, die heute alle Wörter über dem Niveau ihrer Leser</a:t>
            </a:r>
          </a:p>
          <a:p>
            <a:r>
              <a:rPr i="0"/>
              <a:t>enthalten, sollen höchstens noch zehn betroffen sein.</a:t>
            </a:r>
          </a:p>
          <a:p/>
          <a:p>
            <a:r>
              <a:rPr i="0"/>
              <a:t>### Die vierte Kennzahl: die Befragung</a:t>
            </a:r>
          </a:p>
          <a:p/>
          <a:p>
            <a:r>
              <a:rPr i="0"/>
              <a:t>Die vierte Zeile ist mir wichtig, weil die ersten drei nur den Text messen und</a:t>
            </a:r>
          </a:p>
          <a:p>
            <a:r>
              <a:rPr i="0"/>
              <a:t>nicht die Wirkung. Deshalb frage ich die Teilnehmenden selbst. Nicht über</a:t>
            </a:r>
          </a:p>
          <a:p>
            <a:r>
              <a:rPr i="0"/>
              <a:t>einen Fragebogen auf der Website, denn den füllt genau die Zielgruppe nicht</a:t>
            </a:r>
          </a:p>
          <a:p>
            <a:r>
              <a:rPr i="0"/>
              <a:t>aus, um die es geht. Sondern im Kurs, am Ende einer Stunde, in einfacher</a:t>
            </a:r>
          </a:p>
          <a:p>
            <a:r>
              <a:rPr i="0"/>
              <a:t>Sprache.</a:t>
            </a:r>
          </a:p>
          <a:p/>
          <a:p>
            <a:r>
              <a:rPr i="0"/>
              <a:t>Diese Befragung ist freiwillig und wird vergütet. Sonst wäre sie eine neue</a:t>
            </a:r>
          </a:p>
          <a:p>
            <a:r>
              <a:rPr i="0"/>
              <a:t>Aufgabe ohne Bezahlung, und das ist bei Honorarkräften genau das Problem von</a:t>
            </a:r>
          </a:p>
          <a:p>
            <a:r>
              <a:rPr i="0"/>
              <a:t>der Widerstandsfolie.</a:t>
            </a:r>
          </a:p>
          <a:p/>
          <a:p>
            <a:r>
              <a:rPr i="0"/>
              <a:t>### Letzte Spalte: womit gemessen wird</a:t>
            </a:r>
          </a:p>
          <a:p/>
          <a:p>
            <a:r>
              <a:rPr i="0"/>
              <a:t>In der letzten Spalte steht, womit gemessen wird. Die Nachmessung läuft mit</a:t>
            </a:r>
          </a:p>
          <a:p>
            <a:r>
              <a:rPr i="0"/>
              <a:t>demselben Skript wie die Ausgangsmessung, und dafür bleibt es unverändert</a:t>
            </a:r>
          </a:p>
          <a:p>
            <a:r>
              <a:rPr i="0"/>
              <a:t>liegen. Wäre es zwischendurch verbessert worden, wüsste man hinterher</a:t>
            </a:r>
          </a:p>
          <a:p>
            <a:r>
              <a:rPr i="0"/>
              <a:t>nicht, ob die Texte besser geworden sind oder nur die Messung anders.</a:t>
            </a:r>
          </a:p>
          <a:p/>
          <a:p>
            <a:r>
              <a:rPr i="0"/>
              <a:t>### Das Risiko unten</a:t>
            </a:r>
          </a:p>
          <a:p/>
          <a:p>
            <a:r>
              <a:rPr i="0"/>
              <a:t>Das Risiko steckt in den Kennzahlen selbst. Die ersten drei lassen sich</a:t>
            </a:r>
          </a:p>
          <a:p>
            <a:r>
              <a:rPr i="0"/>
              <a:t>erfüllen, ohne dass ein einziger Text besser wird: Wer lange Sätze teilt und</a:t>
            </a:r>
          </a:p>
          <a:p>
            <a:r>
              <a:rPr i="0"/>
              <a:t>schwere Wörter austauscht, drückt die Befundquote — ob der Text dadurch</a:t>
            </a:r>
          </a:p>
          <a:p>
            <a:r>
              <a:rPr i="0"/>
              <a:t>verständlicher geworden ist, hat dann noch niemand gefragt. Ein kürzerer Satz</a:t>
            </a:r>
          </a:p>
          <a:p>
            <a:r>
              <a:rPr i="0"/>
              <a:t>ist nicht automatisch ein verständlicherer.</a:t>
            </a:r>
          </a:p>
          <a:p/>
          <a:p>
            <a:r>
              <a:rPr i="0"/>
              <a:t>Genau dagegen steht die vierte Kennzahl. Sie fragt nicht den Text, sondern die</a:t>
            </a:r>
          </a:p>
          <a:p>
            <a:r>
              <a:rPr i="0"/>
              <a:t>Menschen, für die er geschrieben ist. Ohne sie misst der Pilot am Ende nur</a:t>
            </a:r>
          </a:p>
          <a:p>
            <a:r>
              <a:rPr i="0"/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### Was diese Arbeit ist</a:t>
            </a:r>
          </a:p>
          <a:p/>
          <a:p>
            <a:r>
              <a:rPr i="0"/>
              <a:t>Ich habe ein reales Unternehmen analysiert, einen Prozess gefunden, in dem</a:t>
            </a:r>
          </a:p>
          <a:p>
            <a:r>
              <a:rPr i="0"/>
              <a:t>niemand etwas falsch macht und trotzdem etwas fehlt, und ich habe den Zustand</a:t>
            </a:r>
          </a:p>
          <a:p>
            <a:r>
              <a:rPr i="0"/>
              <a:t>gemessen statt geschätzt.</a:t>
            </a:r>
          </a:p>
          <a:p/>
          <a:p>
            <a:r>
              <a:rPr i="0"/>
              <a:t>### Meine Lehre aus dem Projekt</a:t>
            </a:r>
          </a:p>
          <a:p/>
          <a:p>
            <a:r>
              <a:rPr i="0"/>
              <a:t>Der System-Prompt selbst ist an einem Nachmittag geschrieben. Das ist meine</a:t>
            </a:r>
          </a:p>
          <a:p>
            <a:r>
              <a:rPr i="0"/>
              <a:t>eigentliche Lehre aus diesem Projekt. Die Arbeit steckt in allem, was ihn</a:t>
            </a:r>
          </a:p>
          <a:p>
            <a:r>
              <a:rPr i="0"/>
              <a:t>möglich macht: zu wissen, für wen ein Text ist, zu wissen, was Pflicht ist und</a:t>
            </a:r>
          </a:p>
          <a:p>
            <a:r>
              <a:rPr i="0"/>
              <a:t>was Anspruch, und einen Weg zu finden, auf dem die Menschen, die diese Texte</a:t>
            </a:r>
          </a:p>
          <a:p>
            <a:r>
              <a:rPr i="0"/>
              <a:t>schreiben, das Werkzeug nicht als Kontrolle erleben.</a:t>
            </a:r>
          </a:p>
          <a:p/>
          <a:p>
            <a:r>
              <a:rPr i="0"/>
              <a:t>### Der Link auf der Folie</a:t>
            </a:r>
          </a:p>
          <a:p/>
          <a:p>
            <a:r>
              <a:rPr i="0"/>
              <a:t>Danke für die Aufmerksamkeit. Die Adresse steht hier auf der Folie, dort läuft</a:t>
            </a:r>
          </a:p>
          <a:p>
            <a:r>
              <a:rPr i="0"/>
              <a:t>der Prototyp weiter — mit dem Prompt in allen Fassungen und den Läufen, die ihr</a:t>
            </a:r>
          </a:p>
          <a:p>
            <a:r>
              <a:rPr i="0"/>
              <a:t>gesehen 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