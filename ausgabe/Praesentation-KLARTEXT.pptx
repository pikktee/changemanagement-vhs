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aber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a:t>
            </a:r>
            <a:r>
              <a:rPr i="1"/>
              <a:t>5.800 Texte und 57 Prozent</a:t>
            </a:r>
          </a:p>
          <a:p/>
          <a:p>
            <a:r>
              <a:rPr i="0"/>
              <a:t>- Die Volkshochschule veröffentlicht rund 5800 Kursbeschreibungen im Jahr.</a:t>
            </a:r>
          </a:p>
          <a:p>
            <a:r>
              <a:rPr i="0"/>
              <a:t>- Von allen Texten, die heute im Portal stehen, hat mehr als jeder zweite Text einen Befund.</a:t>
            </a:r>
          </a:p>
          <a:p/>
          <a:p>
            <a:r>
              <a:rPr i="0"/>
              <a:t>### </a:t>
            </a:r>
            <a:r>
              <a:rPr i="1"/>
              <a:t>Fünf Jahre ohne externe Prüfung</a:t>
            </a:r>
          </a:p>
          <a:p>
            <a:r>
              <a:rPr i="0"/>
              <a:t>- Die letzte externe Prüfung auf Barrierefreiheit der Website ist etwa 5 Jahre her. Die Zahl stammt aus der Erklärung zur Barrierefreiheit der Volkshochschule.</a:t>
            </a:r>
          </a:p>
          <a:p/>
          <a:p>
            <a:r>
              <a:rPr i="0"/>
              <a:t>### </a:t>
            </a:r>
            <a:r>
              <a:rPr i="1"/>
              <a:t>Einfache Sprache, der eigentliche Anlass</a:t>
            </a:r>
          </a:p>
          <a:p>
            <a:r>
              <a:rPr i="0"/>
              <a:t>- Dort heißt es auch, dass Informationen zu Betrieb und Kursgeschäft in einfacher Sprache verfügbar sind.</a:t>
            </a:r>
          </a:p>
          <a:p>
            <a:r>
              <a:rPr i="0"/>
              <a:t>- Das gilt aber nicht für die Kursbeschreibungen selbst, und die machen immerhin den größten Textbestand aus.</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der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Prüfwerkzeuge zuständig, zusammen mit der städtischen IT. Die KI sieht nur den Kurstext.</a:t>
            </a:r>
          </a:p>
          <a:p/>
          <a:p>
            <a:r>
              <a:rPr i="0"/>
              <a:t>### Ergebnis</a:t>
            </a:r>
          </a:p>
          <a:p>
            <a:r>
              <a:rPr i="0"/>
              <a:t>- *vorlesen*</a:t>
            </a:r>
          </a:p>
          <a:p/>
          <a:p>
            <a:r>
              <a:rPr i="0"/>
              <a:t>### Callout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a:t>
            </a:r>
            <a:r>
              <a:rPr i="1"/>
              <a:t>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Nochmal zur Abgrenzung</a:t>
            </a:r>
          </a:p>
          <a:p>
            <a:r>
              <a:rPr i="0"/>
              <a:t>- Was die Technik prüft, und wo KLARTEXT ansetzt.</a:t>
            </a:r>
          </a:p>
          <a:p/>
          <a:p>
            <a:r>
              <a:rPr i="0"/>
              <a:t>### </a:t>
            </a:r>
            <a:r>
              <a:rPr i="1"/>
              <a:t>Die Website</a:t>
            </a:r>
          </a:p>
          <a:p>
            <a:r>
              <a:rPr i="0"/>
              <a:t>- Was nicht zum Projekt gehört ist die technische Prüfung der Website als ganzes.</a:t>
            </a:r>
          </a:p>
          <a:p>
            <a:r>
              <a:rPr i="0"/>
              <a:t>- Also z.B. Kontraste, Tastaturbedienung, Seitentitel, Navigation.</a:t>
            </a:r>
          </a:p>
          <a:p>
            <a:r>
              <a:rPr i="0"/>
              <a:t>- Das ist prüfbar, ohne einen einzigen Kurs zu kennen.</a:t>
            </a:r>
          </a:p>
          <a:p>
            <a:r>
              <a:rPr i="0"/>
              <a:t>- Dafür gibt es etablierte Tools wie </a:t>
            </a:r>
            <a:r>
              <a:rPr b="1" i="0"/>
              <a:t>axe-core</a:t>
            </a:r>
            <a:r>
              <a:rPr i="0"/>
              <a:t>. Zuständig ist hier die städtische IT.</a:t>
            </a:r>
          </a:p>
          <a:p/>
          <a:p>
            <a:r>
              <a:rPr i="0"/>
              <a:t>### </a:t>
            </a:r>
            <a:r>
              <a:rPr i="1"/>
              <a:t>Der einzelne Text</a:t>
            </a:r>
          </a:p>
          <a:p>
            <a:r>
              <a:rPr i="0"/>
              <a:t>- Das Projekt prüft den einzelnen Text:</a:t>
            </a:r>
          </a:p>
          <a:p>
            <a:r>
              <a:rPr i="0"/>
              <a:t>- Versteht die Zielgruppe genau dieses Kurses ihn?</a:t>
            </a:r>
          </a:p>
          <a:p>
            <a:r>
              <a:rPr i="0"/>
              <a:t>- Die KI kann hier nur Vorschläge machen, die Entscheidung liegt beim Fachbereich.</a:t>
            </a:r>
          </a:p>
          <a:p/>
          <a:p>
            <a:r>
              <a:rPr i="0"/>
              <a:t>### Callout</a:t>
            </a:r>
          </a:p>
          <a:p>
            <a:r>
              <a:rPr i="0"/>
              <a:t>- Die Trennlinie verläuft also nicht zwischen Technik und Sprache, sondern zwischen der Seite und dem einzelnen Text.</a:t>
            </a:r>
          </a:p>
          <a:p>
            <a:r>
              <a:rPr i="0"/>
              <a:t>- </a:t>
            </a:r>
            <a:r>
              <a:rPr b="1" i="0">
                <a:solidFill>
                  <a:srgbClr val="A4162B"/>
                </a:solidFill>
              </a:rPr>
              <a:t>Neu ist allein der Schritt, der die Zielgruppe kennen muss.</a:t>
            </a:r>
          </a:p>
          <a:p>
            <a:r>
              <a:rPr i="0"/>
              <a:t>- Und genau dafür setzen wir ein KI-Sprachmodell 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Und damit kommen wir zum Kern der Aufgabe, unserem System-Prompt.</a:t>
            </a:r>
          </a:p>
          <a:p>
            <a:r>
              <a:rPr i="0"/>
              <a:t>- Er folgt der gängigen Sechs-Komponenten- Struktur</a:t>
            </a:r>
          </a:p>
          <a:p/>
          <a:p>
            <a:r>
              <a:rPr i="0"/>
              <a:t>### Rolle, Aufgabe, Format, Grenzen</a:t>
            </a:r>
          </a:p>
          <a:p>
            <a:r>
              <a:rPr i="0"/>
              <a:t>*(Vorlesen)*</a:t>
            </a:r>
          </a:p>
          <a:p/>
          <a:p>
            <a:r>
              <a:rPr i="0"/>
              <a:t>### Kontext: die Wortliste</a:t>
            </a:r>
          </a:p>
          <a:p>
            <a:r>
              <a:rPr i="0"/>
              <a:t>- Der KONTEXT enthält das Hauswissen: acht Programmbereiche, interne Abkürzungen und auch die sechs Prüfregeln sind hier drin.</a:t>
            </a:r>
          </a:p>
          <a:p>
            <a:r>
              <a:rPr i="0"/>
              <a:t>- Der wichtigste Teil: 820 Wörter des Prüfungswortschatzes für das </a:t>
            </a:r>
            <a:r>
              <a:rPr b="1" i="0"/>
              <a:t>Goethe-Zertifikat A1</a:t>
            </a:r>
            <a:r>
              <a:rPr i="0"/>
              <a:t>. Die werden vollständig mit dem Prompt übergeben.</a:t>
            </a:r>
          </a:p>
          <a:p>
            <a:r>
              <a:rPr i="0"/>
              <a:t>- Das ist das Ergebnis der ersten Überarbeitung: Vorher hat die KI behauptet gegen die Wortlisten zu prüfen, was jedoch nicht erfolgt ist.</a:t>
            </a:r>
          </a:p>
          <a:p>
            <a:r>
              <a:rPr i="0"/>
              <a:t>- </a:t>
            </a:r>
            <a:r>
              <a:rPr b="1" i="0">
                <a:solidFill>
                  <a:srgbClr val="A4162B"/>
                </a:solidFill>
              </a:rPr>
              <a:t>Funfact:</a:t>
            </a:r>
            <a:r>
              <a:rPr i="0"/>
              <a:t> Die Liste geht laut Goethe-Institut auf eine Veröffentlichung der Prüfungszentrale des Deutschen Volkshochschul-Verbands zurück.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Zur technischen Implementierung</a:t>
            </a:r>
          </a:p>
          <a:p>
            <a:r>
              <a:rPr i="0"/>
              <a:t>- Zwei Wege sind zu Beginn des Pilotprojekts verfügbar.</a:t>
            </a:r>
          </a:p>
          <a:p/>
          <a:p>
            <a:r>
              <a:rPr i="0"/>
              <a:t>### Weg 1: Als KI-Assistent bei fobizz</a:t>
            </a:r>
          </a:p>
          <a:p>
            <a:r>
              <a:rPr i="0"/>
              <a:t>- Braucht keine eigene Technik.</a:t>
            </a:r>
          </a:p>
          <a:p>
            <a:r>
              <a:rPr i="0"/>
              <a:t>- Der Deutsche Volkshochschul-Verband hat im Mai 2025 eine Rahmenvereinbarung mit dem Anbieter </a:t>
            </a:r>
            <a:r>
              <a:rPr b="1" i="0"/>
              <a:t>fobizz</a:t>
            </a:r>
            <a:r>
              <a:rPr i="0"/>
              <a:t> geschlossen: datenschutzkonformer KI-Zugang für alle Volkshochschulen, mit eigenen Assistenten und eigenen Anweisungen.</a:t>
            </a:r>
          </a:p>
          <a:p>
            <a:r>
              <a:rPr i="0"/>
              <a:t>- Zustimmung außerhalb des Pilotbereichs braucht es nicht, weil bereits ein Rahmenvertrag besteht.</a:t>
            </a:r>
          </a:p>
          <a:p/>
          <a:p>
            <a:r>
              <a:rPr i="0"/>
              <a:t>### Weg 2: Als eigenes Prüfwerkzeug</a:t>
            </a:r>
          </a:p>
          <a:p>
            <a:r>
              <a:rPr i="0"/>
              <a:t>- Einen Entwurf einfügen — oder einen vorhandenen Kurs auswählen</a:t>
            </a:r>
          </a:p>
          <a:p>
            <a:r>
              <a:rPr i="0"/>
              <a:t>- Die Schnittstelle des Kursportals ist öffentlich. Es braucht nur einen eigenen Server.</a:t>
            </a:r>
          </a:p>
          <a:p>
            <a:r>
              <a:rPr i="0"/>
              <a:t>- Auch um den Prompt zu testen, habe ich hier einen Prototyp gebaut.</a:t>
            </a:r>
          </a:p>
          <a:p/>
          <a:p>
            <a:r>
              <a:rPr i="0"/>
              <a:t>### Unten:</a:t>
            </a:r>
          </a:p>
          <a:p>
            <a:r>
              <a:rPr i="0"/>
              <a:t>- Perspektivisch möglich, aber kein Teil des Pilotprojekts: Man könnte die Prüfung direkt ins Redaktionssystem einbauen, also dort, wo der Text entsteht.</a:t>
            </a:r>
          </a:p>
          <a:p>
            <a:r>
              <a:rPr i="0"/>
              <a:t>- Allerdings wird das Portal von einem externen Dienstleister betreut.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Damit zum Change-Teil: Wen sollten wir im Projekt auf welche Weise berücksichtigen?</a:t>
            </a:r>
          </a:p>
          <a:p>
            <a:r>
              <a:rPr i="0"/>
              <a:t>- Wichtig: Der Pilot beschränkt sich auf einen der vier Fachbereiche.</a:t>
            </a:r>
          </a:p>
          <a:p/>
          <a:p>
            <a:r>
              <a:rPr i="0"/>
              <a:t>- Die </a:t>
            </a:r>
            <a:r>
              <a:rPr b="1" i="0"/>
              <a:t>Einfluss-Betroffenheits-Matrix</a:t>
            </a:r>
            <a:r>
              <a:rPr i="0"/>
              <a:t> sortiert die Stakeholder nach zwei Fragen: Wer ist betroffen, und wer hat Einfluss.</a:t>
            </a:r>
          </a:p>
          <a:p/>
          <a:p>
            <a:r>
              <a:rPr i="0"/>
              <a:t>### Oben rechts: Eng einbinden</a:t>
            </a:r>
          </a:p>
          <a:p>
            <a:r>
              <a:rPr i="0"/>
              <a:t>- Ich fange an mit den Stakeholdern, die wir eng einbinden müssen.</a:t>
            </a:r>
          </a:p>
          <a:p>
            <a:r>
              <a:rPr i="0"/>
              <a:t>- </a:t>
            </a:r>
            <a:r>
              <a:rPr b="1" i="0"/>
              <a:t>Der Direktor</a:t>
            </a:r>
            <a:r>
              <a:rPr i="0"/>
              <a:t> — da er laut Impressum persönlich für die redaktionellen Inhalte verantwortlich ist.</a:t>
            </a:r>
          </a:p>
          <a:p>
            <a:r>
              <a:rPr i="0"/>
              <a:t>- </a:t>
            </a:r>
            <a:r>
              <a:rPr b="1" i="0"/>
              <a:t>Der Pilot-Fachbereich</a:t>
            </a:r>
            <a:r>
              <a:rPr i="0"/>
              <a:t> — natürlich, er entscheidet über den Text.</a:t>
            </a:r>
          </a:p>
          <a:p>
            <a:r>
              <a:rPr i="0"/>
              <a:t>- </a:t>
            </a:r>
            <a:r>
              <a:rPr b="1" i="0"/>
              <a:t>Der Personalrat</a:t>
            </a:r>
            <a:r>
              <a:rPr i="0"/>
              <a:t> — der Einzige, der das Projekt anhalten kann: Die Einführung ist mitbestimmungspflichtig. </a:t>
            </a:r>
            <a:r>
              <a:rPr b="1" i="0">
                <a:solidFill>
                  <a:srgbClr val="A4162B"/>
                </a:solidFill>
              </a:rPr>
              <a:t>Ohne seine Zustimmung passiert nichts.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Die Betriebskommission</a:t>
            </a:r>
            <a:r>
              <a:rPr i="0"/>
              <a:t> — als Aufsichtsgremium.</a:t>
            </a:r>
          </a:p>
          <a:p>
            <a:r>
              <a:rPr i="0"/>
              <a:t>- </a:t>
            </a:r>
            <a:r>
              <a:rPr b="1" i="0"/>
              <a:t>Der Volkshochschul-Verband</a:t>
            </a:r>
            <a:r>
              <a:rPr i="0"/>
              <a:t> — stellt den KI-Zugang.</a:t>
            </a:r>
          </a:p>
          <a:p/>
          <a:p>
            <a:r>
              <a:rPr i="0"/>
              <a:t>### Unten rechts: Konsultieren</a:t>
            </a:r>
          </a:p>
          <a:p>
            <a:r>
              <a:rPr i="0"/>
              <a:t>- </a:t>
            </a:r>
            <a:r>
              <a:rPr b="1" i="0"/>
              <a:t>Die Kursleitungen auf Honorarbasis</a:t>
            </a:r>
            <a:r>
              <a:rPr i="0"/>
              <a:t> — oft kommt der Text von ihnen. Trotzdem sitzen sie in keinem Gremium, und vorschreiben kann man ihnen nichts.</a:t>
            </a:r>
          </a:p>
          <a:p>
            <a:r>
              <a:rPr i="0"/>
              <a:t>- </a:t>
            </a:r>
            <a:r>
              <a:rPr b="1" i="0"/>
              <a:t>Die Redaktion des Programmhefts</a:t>
            </a:r>
            <a:r>
              <a:rPr i="0"/>
              <a:t> — prüft Texte für den Druck schon heute, weiß also, wie Textprüfung geht. </a:t>
            </a:r>
            <a:r>
              <a:rPr i="1"/>
              <a:t>Im Pilot ist sie nicht: Der prüft nur neue Portaltexte.</a:t>
            </a:r>
          </a:p>
          <a:p>
            <a:r>
              <a:rPr i="0"/>
              <a:t>- </a:t>
            </a:r>
            <a:r>
              <a:rPr b="1" i="0"/>
              <a:t>Die Teilnehmenden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 den Widerständen. Ich erwarte hier vier — ob es dabei bleibt, zeigt</a:t>
            </a:r>
          </a:p>
          <a:p>
            <a:r>
              <a:rPr i="0"/>
              <a:t>die Befragung der Betroffenen im ersten Monat.</a:t>
            </a:r>
          </a:p>
          <a:p/>
          <a:p>
            <a:r>
              <a:rPr i="0"/>
              <a:t>### Unsicherheit · im ganzen Haus</a:t>
            </a:r>
          </a:p>
          <a:p>
            <a:r>
              <a:rPr i="0"/>
              <a:t>- Die Frage, die als Erstes kommen könnte: Schreibt die KI jetzt unsere Texte?</a:t>
            </a:r>
          </a:p>
          <a:p>
            <a:r>
              <a:rPr i="0"/>
              <a:t>- Nein. Sie schlägt vor, mehr nicht. Entschieden und veröffentlicht wird von Menschen.</a:t>
            </a:r>
          </a:p>
          <a:p/>
          <a:p>
            <a:r>
              <a:rPr i="0"/>
              <a:t>### Verlustangst in den Fachbereichen</a:t>
            </a:r>
          </a:p>
          <a:p>
            <a:r>
              <a:rPr i="0"/>
              <a:t>- "Ich werde an Texten gemessen, die ich gar nicht ändern darf."</a:t>
            </a:r>
          </a:p>
          <a:p>
            <a:r>
              <a:rPr i="0"/>
              <a:t>- Der einzige Einwand, der noch offen ist.</a:t>
            </a:r>
          </a:p>
          <a:p>
            <a:r>
              <a:rPr i="0"/>
              <a:t>- Eine Kursbeschreibung ist oft nicht aus einer Hand: z.B. der Anmeldehinweis oder die Beschreibung der Niveaustufe — solche Textbausteine stehen wortgleich in vielen Kursen und werden nicht dort gepflegt, wo der Kurs angeboten wird.</a:t>
            </a:r>
          </a:p>
          <a:p>
            <a:r>
              <a:rPr i="0"/>
              <a:t>- Wer die Befunde bekommt, darf den Text also oft gar nicht ändern.</a:t>
            </a:r>
          </a:p>
          <a:p>
            <a:r>
              <a:rPr i="0"/>
              <a:t>- Die Antwort ist deshalb hier keine Schulung, sondern eine Zuständigkeitsfrage — und die gehört vor den Pilot.</a:t>
            </a:r>
          </a:p>
          <a:p/>
          <a:p>
            <a:r>
              <a:rPr i="0"/>
              <a:t>### Fehlende Perspektive bei der Kursleitung</a:t>
            </a:r>
          </a:p>
          <a:p>
            <a:r>
              <a:rPr i="0"/>
              <a:t>- "Noch eine Aufgabe - bezahlt werde ich nach Unterrichtsstunden."</a:t>
            </a:r>
          </a:p>
          <a:p>
            <a:r>
              <a:rPr i="0"/>
              <a:t>- Bei den Honorarkräften wiegt der Einwand am schwersten: Bezahlt wird die Unterrichtsstunde. Arbeit am Text kommt in der Abrechnung nicht vor.</a:t>
            </a:r>
          </a:p>
          <a:p>
            <a:r>
              <a:rPr i="0"/>
              <a:t>- Der Einwand ist berechtigt und gehört auch so beantwortet.</a:t>
            </a:r>
          </a:p>
          <a:p>
            <a:r>
              <a:rPr i="0"/>
              <a:t>- Die Antwort:</a:t>
            </a:r>
          </a:p>
          <a:p>
            <a:r>
              <a:rPr i="0"/>
              <a:t>- Es kommt keine neue Aufgabe dazu.</a:t>
            </a:r>
          </a:p>
          <a:p>
            <a:r>
              <a:rPr i="0"/>
              <a:t>- Geprüft wird im Fachbereich, an dem Text, der dort eingeht.</a:t>
            </a:r>
          </a:p>
          <a:p>
            <a:r>
              <a:rPr i="0"/>
              <a:t>- Wer eine Rückmeldung möchte, bekommt sie, aber eine Pflicht wird daraus nicht.</a:t>
            </a:r>
          </a:p>
          <a:p>
            <a:r>
              <a:rPr i="0"/>
              <a:t>- Kontrolle ist das nicht: </a:t>
            </a:r>
            <a:r>
              <a:rPr b="1" i="0">
                <a:solidFill>
                  <a:srgbClr val="A4162B"/>
                </a:solidFill>
              </a:rPr>
              <a:t>Geprüft wird der Text, nicht die Person, die ihn geschrieben hat.</a:t>
            </a:r>
            <a:r>
              <a:rPr i="0"/>
              <a:t> Es wird kein Befund einer Kursleitung zugeordnet.</a:t>
            </a:r>
          </a:p>
          <a:p/>
          <a:p>
            <a:r>
              <a:rPr i="0"/>
              <a:t>### Gewohnheit · Redaktion des Programmhefts</a:t>
            </a:r>
          </a:p>
          <a:p>
            <a:r>
              <a:rPr i="0"/>
              <a:t>- Der Satz: Es hat sich doch nie jemand beschwert. Und das stimmt vermutlich sogar.</a:t>
            </a:r>
          </a:p>
          <a:p>
            <a:r>
              <a:rPr i="0"/>
              <a:t>- Diese Redaktion prüft als Einzige im Haus heute schon Texte. Sie ist keine Bremse, sondern der nächstliegende Verbündete — und so sollte man ihr auch begegnen.</a:t>
            </a:r>
          </a:p>
          <a:p>
            <a:r>
              <a:rPr i="0"/>
              <a:t>- Das Problem ist: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 an sich.</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a:t>
            </a:r>
          </a:p>
          <a:p>
            <a:r>
              <a:rPr i="0"/>
              <a:t>- Der Plan ist eine Kette von Freigaben: </a:t>
            </a:r>
            <a:r>
              <a:rPr b="1" i="0">
                <a:solidFill>
                  <a:srgbClr val="A4162B"/>
                </a:solidFill>
              </a:rPr>
              <a:t>Ohne Dienstvereinbarung kein Setup, ohne Training kein Pilot, ohne Nachmessung kein Rollout.</a:t>
            </a:r>
          </a:p>
          <a:p/>
          <a:p>
            <a:r>
              <a:rPr i="0"/>
              <a:t>Gehen wir die Stränge einmal durch.</a:t>
            </a:r>
          </a:p>
          <a:p/>
          <a:p>
            <a:r>
              <a:rPr i="0"/>
              <a:t>### Technische Implementation</a:t>
            </a:r>
          </a:p>
          <a:p>
            <a:r>
              <a:rPr i="0"/>
              <a:t>- </a:t>
            </a:r>
            <a:r>
              <a:rPr b="1" i="0"/>
              <a:t>Setup:</a:t>
            </a:r>
            <a:r>
              <a:rPr i="0"/>
              <a:t> Der Assistent wird im bestehenden KI-Zugang des Verbands angelegt. Der Prompt wird im Prüfwerkzeug an echten Kurstexten nachgeschärft — jeder Lauf wird protokolliert.</a:t>
            </a:r>
          </a:p>
          <a:p>
            <a:r>
              <a:rPr i="0"/>
              <a:t>- </a:t>
            </a:r>
            <a:r>
              <a:rPr b="1" i="0"/>
              <a:t>Pilot:</a:t>
            </a:r>
            <a:r>
              <a:rPr i="0"/>
              <a:t> Ein Fachbereich, nur neu entstehende Texte. Klein genug, um alle Beteiligten wirklich einzubinden.</a:t>
            </a:r>
          </a:p>
          <a:p>
            <a:r>
              <a:rPr i="0"/>
              <a:t>- Der </a:t>
            </a:r>
            <a:r>
              <a:rPr b="1" i="0"/>
              <a:t>Rollout:</a:t>
            </a:r>
            <a:r>
              <a:rPr i="0"/>
              <a:t> wird im dritten Monat nur vorbereitet. Ob er kommt, entscheidet die Nachmessung.</a:t>
            </a:r>
          </a:p>
          <a:p/>
          <a:p>
            <a:r>
              <a:rPr i="0"/>
              <a:t>### Kommunikation</a:t>
            </a:r>
          </a:p>
          <a:p>
            <a:r>
              <a:rPr i="0"/>
              <a:t>- </a:t>
            </a:r>
            <a:r>
              <a:rPr b="1" i="0"/>
              <a:t>Ankündigung:</a:t>
            </a:r>
            <a:r>
              <a:rPr i="0"/>
              <a:t> Erst die Dienstvereinbarung mit dem Personalrat, dann die Bekanntgabe im Haus — in dieser Reihenfolge, sonst verhandelt man öffentlich.</a:t>
            </a:r>
          </a:p>
          <a:p>
            <a:r>
              <a:rPr i="0"/>
              <a:t>- </a:t>
            </a:r>
            <a:r>
              <a:rPr b="1" i="0"/>
              <a:t>Training:</a:t>
            </a:r>
            <a:r>
              <a:rPr i="0"/>
              <a:t> Kein KI-Grundlagenkurs, sondern eine Schulung am konkreten System, bevor der erste Text geprüft wird.</a:t>
            </a:r>
          </a:p>
          <a:p>
            <a:r>
              <a:rPr i="0"/>
              <a:t>- </a:t>
            </a:r>
            <a:r>
              <a:rPr b="1" i="0"/>
              <a:t>Support:</a:t>
            </a:r>
            <a:r>
              <a:rPr i="0"/>
              <a:t> Eine feste Sprechstunde statt Zuruf. Sie senkt die Schwelle zu fragen, hält den Aufwand planbar.</a:t>
            </a:r>
          </a:p>
          <a:p/>
          <a:p>
            <a:r>
              <a:rPr i="0"/>
              <a:t>### Change</a:t>
            </a:r>
          </a:p>
          <a:p>
            <a:r>
              <a:rPr i="0"/>
              <a:t>- </a:t>
            </a:r>
            <a:r>
              <a:rPr b="1" i="0"/>
              <a:t>Vorbereitung:</a:t>
            </a:r>
            <a:r>
              <a:rPr i="0"/>
              <a:t> Den Pilotbereich gewinnen, nicht zuweisen. Die Betroffenen befragen, bevor etwas läuft. Und klären, wer die zentral gepflegten Textbausteine ändern darf.</a:t>
            </a:r>
          </a:p>
          <a:p>
            <a:r>
              <a:rPr i="0"/>
              <a:t>- </a:t>
            </a:r>
            <a:r>
              <a:rPr b="1" i="0"/>
              <a:t>Einbindung:</a:t>
            </a:r>
            <a:r>
              <a:rPr i="0"/>
              <a:t> Der Bereich wählt selbst, welche Regeln verbindlich gelten und vor der Veröffentlichung behoben sind. Und er korrigiert die Textbausteine zuerst: </a:t>
            </a:r>
            <a:r>
              <a:rPr b="1" i="0">
                <a:solidFill>
                  <a:srgbClr val="A4162B"/>
                </a:solidFill>
              </a:rPr>
              <a:t>Ein korrigierter Textbaustein wirkt sofort in allen Kursen, die ihn verwenden.</a:t>
            </a:r>
          </a:p>
          <a:p>
            <a:r>
              <a:rPr i="0"/>
              <a:t>- </a:t>
            </a:r>
            <a:r>
              <a:rPr b="1" i="0"/>
              <a:t>Begleitung:</a:t>
            </a:r>
            <a:r>
              <a:rPr i="0"/>
              <a:t> Die Nachmessung, mit demselben Skript wie die Ausgangsmessung — sonst weiß man nicht, ob die Texte besser wurden oder nur die Messung anders. Danach fällt die Rollout-Entscheidung.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Das war der Plan für drei Monate — das hier ist sein erster Monat im Detail.</a:t>
            </a:r>
          </a:p>
          <a:p>
            <a:r>
              <a:rPr i="0"/>
              <a:t>Keine Aufzählung, sondern eine Reihenfolge: </a:t>
            </a:r>
            <a:r>
              <a:rPr b="1" i="0">
                <a:solidFill>
                  <a:srgbClr val="A4162B"/>
                </a:solidFill>
              </a:rPr>
              <a:t>Jeder Schritt bedingt den nächsten.</a:t>
            </a:r>
          </a:p>
          <a:p/>
          <a:p>
            <a:r>
              <a:rPr i="0"/>
              <a:t>### Schritt eins</a:t>
            </a:r>
          </a:p>
          <a:p>
            <a:r>
              <a:rPr i="0"/>
              <a:t>- Zuerst die </a:t>
            </a:r>
            <a:r>
              <a:rPr b="1" i="0"/>
              <a:t>Dienstvereinbarung</a:t>
            </a:r>
            <a:r>
              <a:rPr i="0"/>
              <a:t> mit dem Personalrat — er ist der Einzige, der das Projekt anhalten kann, die Einführung ist mitbestimmungspflichtig.</a:t>
            </a:r>
          </a:p>
          <a:p>
            <a:r>
              <a:rPr i="0"/>
              <a:t>- Vorher wird nichts angelegt, auch nicht „nur zum Ausprobieren“.</a:t>
            </a:r>
          </a:p>
          <a:p/>
          <a:p>
            <a:r>
              <a:rPr i="0"/>
              <a:t>### Schritt zwei</a:t>
            </a:r>
          </a:p>
          <a:p>
            <a:r>
              <a:rPr i="0"/>
              <a:t>- Einen </a:t>
            </a:r>
            <a:r>
              <a:rPr b="1" i="0"/>
              <a:t>Fachbereich</a:t>
            </a:r>
            <a:r>
              <a:rPr i="0"/>
              <a:t> gewinnen, nicht zuweisen. Freiwillig deshalb, weil ein zugewiesener Pilot Erfüllung liefert, kein Ergebnis.</a:t>
            </a:r>
          </a:p>
          <a:p>
            <a:r>
              <a:rPr i="0"/>
              <a:t>- Der Bereich, der sich meldet, bekommt dafür etwas: Er wählt im zweiten Monat selbst, welche Regeln verbindlich gelten.</a:t>
            </a:r>
          </a:p>
          <a:p/>
          <a:p>
            <a:r>
              <a:rPr i="0"/>
              <a:t>### Schritt drei</a:t>
            </a:r>
          </a:p>
          <a:p>
            <a:r>
              <a:rPr i="0"/>
              <a:t>- Klären, wer die zentral gepflegten </a:t>
            </a:r>
            <a:r>
              <a:rPr b="1" i="0"/>
              <a:t>Textbausteine</a:t>
            </a:r>
            <a:r>
              <a:rPr i="0"/>
              <a:t> ändern darf — die Teile, die wortgleich in vielen Kursen stehen.</a:t>
            </a:r>
          </a:p>
          <a:p>
            <a:r>
              <a:rPr i="0"/>
              <a:t>- Das ist der Schritt, den man am ehesten überspringt, und der teuerste: Lässt man ihn aus, liefert der Pilot eine Liste von Befunden, die im Pilotbereich niemand ändern darf.</a:t>
            </a:r>
          </a:p>
          <a:p/>
          <a:p>
            <a:r>
              <a:rPr i="0"/>
              <a:t>### Schritt vier</a:t>
            </a:r>
          </a:p>
          <a:p>
            <a:r>
              <a:rPr i="0"/>
              <a:t>- Erst als Letztes das Technische: den </a:t>
            </a:r>
            <a:r>
              <a:rPr b="1" i="0"/>
              <a:t>Assistenten anlegen</a:t>
            </a:r>
            <a:r>
              <a:rPr i="0"/>
              <a:t>. Das kostet nichts — kein Einkauf, keine neue Stelle, der KI-Zugang des Verbands ist 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Noch zur Erfolgsmessung, welche KPIs setzen wir an?</a:t>
            </a:r>
          </a:p>
          <a:p/>
          <a:p>
            <a:r>
              <a:rPr i="0"/>
              <a:t>### 1)</a:t>
            </a:r>
          </a:p>
          <a:p>
            <a:r>
              <a:rPr i="0"/>
              <a:t>- Die Befundquote soll von 57 Prozent unter 25 fallen.</a:t>
            </a:r>
          </a:p>
          <a:p/>
          <a:p>
            <a:r>
              <a:rPr i="0"/>
              <a:t>### 2)</a:t>
            </a:r>
          </a:p>
          <a:p>
            <a:r>
              <a:rPr i="0"/>
              <a:t>- Alle neuen Texte im Pilotbereich sollen geprüft sein.</a:t>
            </a:r>
          </a:p>
          <a:p/>
          <a:p>
            <a:r>
              <a:rPr i="0"/>
              <a:t>### 3)</a:t>
            </a:r>
          </a:p>
          <a:p>
            <a:r>
              <a:rPr i="0"/>
              <a:t>- Von den 31 Texten für Deutschkurse auf A1 und A2, die heute alle Wörter über dem Niveau ihrer Leser enthalten, sollen höchstens noch zehn betroffen sein.</a:t>
            </a:r>
          </a:p>
          <a:p/>
          <a:p>
            <a:r>
              <a:rPr i="0"/>
              <a:t>### 4)</a:t>
            </a:r>
          </a:p>
          <a:p>
            <a:r>
              <a:rPr i="0"/>
              <a:t>- Die ersten drei messen nur den Text, nicht die Wirkung. Daher sollten wir auch die Teilnehmenden selbst befragen.</a:t>
            </a:r>
          </a:p>
          <a:p>
            <a:r>
              <a:rPr i="0"/>
              <a:t>- Nicht über einen Fragebogen auf der Website, sondern im Kurs, am Ende einer Stunde.</a:t>
            </a:r>
          </a:p>
          <a:p/>
          <a:p>
            <a:r>
              <a:rPr i="0"/>
              <a:t>### Das Risiko</a:t>
            </a:r>
          </a:p>
          <a:p>
            <a:r>
              <a:rPr i="0"/>
              <a:t>*(vorlesen)*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