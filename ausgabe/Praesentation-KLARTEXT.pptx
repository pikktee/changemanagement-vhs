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Der Kasten unten</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Lösung. Sie beginnt mit einer Abgrenzung, und die halte ich für den</a:t>
            </a:r>
          </a:p>
          <a:p>
            <a:r>
              <a:rPr i="0"/>
              <a:t>wichtigsten Teil meines Konzepts.</a:t>
            </a:r>
          </a:p>
          <a:p/>
          <a:p>
            <a:r>
              <a:rPr i="0"/>
              <a:t>### Linke Spalte: Das Seitengerüst</a:t>
            </a:r>
          </a:p>
          <a:p/>
          <a:p>
            <a:r>
              <a:rPr i="0"/>
              <a:t>Links steht, was am Gerüst der Seite hängt: Kontraste, Tastaturbedienung,</a:t>
            </a:r>
          </a:p>
          <a:p>
            <a:r>
              <a:rPr i="0"/>
              <a:t>Seitentitel, Navigation. Das kann man prüfen, ohne einen einzigen Kurs zu</a:t>
            </a:r>
          </a:p>
          <a:p>
            <a:r>
              <a:rPr i="0"/>
              <a:t>kennen. Es gilt für alle fünftausendachthundert Texte gleich, dafür gibt es</a:t>
            </a:r>
          </a:p>
          <a:p>
            <a:r>
              <a:rPr i="0"/>
              <a:t>etablierte Programme wie axe-core, und zuständig ist die städtische IT.</a:t>
            </a:r>
          </a:p>
          <a:p/>
          <a:p>
            <a:r>
              <a:rPr i="0"/>
              <a:t>### Rechte Spalte: Der einzelne Text</a:t>
            </a:r>
          </a:p>
          <a:p/>
          <a:p>
            <a:r>
              <a:rPr i="0"/>
              <a:t>Rechts steht, was am einzelnen Text hängt. Versteht die Zielgruppe genau</a:t>
            </a:r>
          </a:p>
          <a:p>
            <a:r>
              <a:rPr i="0"/>
              <a:t>dieses Kurses ihn? Diese Frage lässt sich nicht beantworten, ohne zu wissen,</a:t>
            </a:r>
          </a:p>
          <a:p>
            <a:r>
              <a:rPr i="0"/>
              <a:t>wer liest. Zuständig sind die Programmbereiche.</a:t>
            </a:r>
          </a:p>
          <a:p/>
          <a:p>
            <a:r>
              <a:rPr i="0"/>
              <a:t>### Der Kasten unten: wo die Trennlinie verläuft</a:t>
            </a:r>
          </a:p>
          <a:p/>
          <a:p>
            <a:r>
              <a:rPr i="0"/>
              <a:t>Die Trennlinie verläuft also nicht zwischen Sprache und Technik. Zwei meiner</a:t>
            </a:r>
          </a:p>
          <a:p>
            <a:r>
              <a:rPr i="0"/>
              <a:t>sechs Regeln sind selbst Pflichtkriterien der Barrierefreiheit. Ein Beispiel:</a:t>
            </a:r>
          </a:p>
          <a:p>
            <a:r>
              <a:rPr i="0"/>
              <a:t>eine hervorgehobene Zeile, die als Überschrift gemeint ist, aber im Quelltext</a:t>
            </a:r>
          </a:p>
          <a:p>
            <a:r>
              <a:rPr i="0"/>
              <a:t>keine ist. Das Prüfprogramm sieht dort nur Fließtext und meldet nichts. Ob</a:t>
            </a:r>
          </a:p>
          <a:p>
            <a:r>
              <a:rPr i="0"/>
              <a:t>diese Zeile eine Überschrift sein sollte, kann man dem Text nicht ansehen,</a:t>
            </a:r>
          </a:p>
          <a:p>
            <a:r>
              <a:rPr i="0"/>
              <a:t>sondern nur verstehen. Deshalb liegt ausgerechnet dieses Pflichtkriterium</a:t>
            </a:r>
          </a:p>
          <a:p>
            <a:r>
              <a:rPr i="0"/>
              <a:t>rechts.</a:t>
            </a:r>
          </a:p>
          <a:p/>
          <a:p>
            <a:r>
              <a:rPr i="0"/>
              <a:t>Diese Trennung hat sich beim Bauen dreimal selbst bestätigt. Drei Zusagen, die</a:t>
            </a:r>
          </a:p>
          <a:p>
            <a:r>
              <a:rPr i="0"/>
              <a:t>ich zuerst in den Prompt geschrieben hatte, hat das Modell nicht zuverlässig</a:t>
            </a:r>
          </a:p>
          <a:p>
            <a:r>
              <a:rPr i="0"/>
              <a:t>eingehalten. Alle drei stehen jetzt im Programmcode, weil sie feststehen und</a:t>
            </a:r>
          </a:p>
          <a:p>
            <a:r>
              <a:rPr i="0"/>
              <a:t>keine Einschätzung verlangen.</a:t>
            </a:r>
          </a:p>
          <a:p/>
          <a:p>
            <a:r>
              <a:rPr i="0"/>
              <a:t>### Technische Voraussetzungen</a:t>
            </a:r>
          </a:p>
          <a:p/>
          <a:p>
            <a:r>
              <a:rPr i="0"/>
              <a:t>Technisch braucht es den KI-Zugang, den der Volkshochschul-Verband ohnehin</a:t>
            </a:r>
          </a:p>
          <a:p>
            <a:r>
              <a:rPr i="0"/>
              <a:t>bereitstellt, einen dort angelegten Assistenten und die Wortliste als Datei.</a:t>
            </a:r>
          </a:p>
          <a:p>
            <a:r>
              <a:rPr i="0"/>
              <a:t>Kein neuer Vertrag, kein Eingriff ins Kursverwaltungssystem.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Zum Kern der Aufgabe, dem System-Prompt. Er folgt der Sechs-Komponenten-</a:t>
            </a:r>
          </a:p>
          <a:p>
            <a:r>
              <a:rPr i="0"/>
              <a:t>Struktur aus dem Aufgabenblatt.</a:t>
            </a:r>
          </a:p>
          <a:p/>
          <a:p>
            <a:r>
              <a:rPr i="0"/>
              <a:t>### Rolle, Aufgabe, Format</a:t>
            </a:r>
          </a:p>
          <a:p/>
          <a:p>
            <a:r>
              <a:rPr i="0"/>
              <a:t>Die ROLLE macht ihn zur Redaktionsassistenz, nicht zur Autorin. Die AUFGABE</a:t>
            </a:r>
          </a:p>
          <a:p>
            <a:r>
              <a:rPr i="0"/>
              <a:t>schreibt die Reihenfolge vor: erst die Zielgruppe bestimmen, dann prüfen. Das</a:t>
            </a:r>
          </a:p>
          <a:p>
            <a:r>
              <a:rPr i="0"/>
              <a:t>FORMAT erzwingt zu jedem Befund ein wörtliches Zitat, eine Begründung und</a:t>
            </a:r>
          </a:p>
          <a:p>
            <a:r>
              <a:rPr i="0"/>
              <a:t>einen konkreten Vorschlag. Ohne Vorschlag kein Befund.</a:t>
            </a:r>
          </a:p>
          <a:p/>
          <a:p>
            <a:r>
              <a:rPr i="0"/>
              <a:t>### Kontext: die Wortliste</a:t>
            </a:r>
          </a:p>
          <a:p/>
          <a:p>
            <a:r>
              <a:rPr i="0"/>
              <a:t>Der KONTEXT enthält das Hauswissen: die acht Programmbereiche, die internen</a:t>
            </a:r>
          </a:p>
          <a:p>
            <a:r>
              <a:rPr i="0"/>
              <a:t>Abkürzungen, sechs Prüfregeln und — der wichtigste Teil — achthundertzwanzig</a:t>
            </a:r>
          </a:p>
          <a:p>
            <a:r>
              <a:rPr i="0"/>
              <a:t>Wörter des Prüfungswortschatzes für das Goethe-Zertifikat A1. Diese Liste</a:t>
            </a:r>
          </a:p>
          <a:p>
            <a:r>
              <a:rPr i="0"/>
              <a:t>steht vollständig im Prompt, nicht als Verweis. Er schätzt das Sprachniveau</a:t>
            </a:r>
          </a:p>
          <a:p>
            <a:r>
              <a:rPr i="0"/>
              <a:t>also nicht, sondern begründet es.</a:t>
            </a:r>
          </a:p>
          <a:p/>
          <a:p>
            <a:r>
              <a:rPr i="0"/>
              <a:t>Das ist das Ergebnis der ersten Überarbeitung. In meiner ersten Fassung</a:t>
            </a:r>
          </a:p>
          <a:p>
            <a:r>
              <a:rPr i="0"/>
              <a:t>behauptete der Prompt, gegen die Wortlisten zu prüfen, hatte sie aber gar</a:t>
            </a:r>
          </a:p>
          <a:p>
            <a:r>
              <a:rPr i="0"/>
              <a:t>nicht. Er schätzte weiter frei und klang dabei nach Beleg — derselbe Fehler,</a:t>
            </a:r>
          </a:p>
          <a:p>
            <a:r>
              <a:rPr i="0"/>
              <a:t>den ich anderen Werkzeugen vorwerfe. Der Grundstock dieser Listen stammt</a:t>
            </a:r>
          </a:p>
          <a:p>
            <a:r>
              <a:rPr i="0"/>
              <a:t>übrigens laut Goethe-Institut aus einer Veröffentlichung der Prüfungszentrale</a:t>
            </a:r>
          </a:p>
          <a:p>
            <a:r>
              <a:rPr i="0"/>
              <a:t>des Deutschen Volkshochschulverbands in Frankfurt.</a:t>
            </a:r>
          </a:p>
          <a:p/>
          <a:p>
            <a:r>
              <a:rPr i="0"/>
              <a:t>### Der Kasten unten: die Zeile Grenzen</a:t>
            </a:r>
          </a:p>
          <a:p/>
          <a:p>
            <a:r>
              <a:rPr i="0"/>
              <a:t>In der Zeile GRENZEN steht: bewertet Texte, niemals Personen. Dieser eine Satz</a:t>
            </a:r>
          </a:p>
          <a:p>
            <a:r>
              <a:rPr i="0"/>
              <a:t>leistet zweierlei. Er hält das Projekt aus dem Hochrisikobereich der KI-</a:t>
            </a:r>
          </a:p>
          <a:p>
            <a:r>
              <a:rPr i="0"/>
              <a:t>Verordnung heraus, denn hoch eingestuft wird dort nur, was Menschen bewertet —</a:t>
            </a:r>
          </a:p>
          <a:p>
            <a:r>
              <a:rPr i="0"/>
              <a:t>dieses System bewertet Texte. Und er ist die Antwort auf die Frage des</a:t>
            </a:r>
          </a:p>
          <a:p>
            <a:r>
              <a:rPr i="0"/>
              <a:t>Personalrats, ob hier Leistung kontrolliert wird.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Bleibt die Frage, wie das in den Alltag kommt. Dafür gibt es zwei Wege, und</a:t>
            </a:r>
          </a:p>
          <a:p>
            <a:r>
              <a:rPr i="0"/>
              <a:t>beide stehen vom ersten Tag an offen.</a:t>
            </a:r>
          </a:p>
          <a:p/>
          <a:p>
            <a:r>
              <a:rPr i="0"/>
              <a:t>### Weg 1: Als KI-Assistent bei fobizz</a:t>
            </a:r>
          </a:p>
          <a:p/>
          <a:p>
            <a:r>
              <a:rPr i="0"/>
              <a:t>Der erste braucht keine eigene Technik. Der Deutsche Volkshochschul-Verband</a:t>
            </a:r>
          </a:p>
          <a:p>
            <a:r>
              <a:rPr i="0"/>
              <a:t>hat im Mai zweitausendfünfundzwanzig eine Rahmenvereinbarung mit einem</a:t>
            </a:r>
          </a:p>
          <a:p>
            <a:r>
              <a:rPr i="0"/>
              <a:t>Anbieter namens fobizz geschlossen. Mitarbeitende aller Volkshochschulen in</a:t>
            </a:r>
          </a:p>
          <a:p>
            <a:r>
              <a:rPr i="0"/>
              <a:t>Deutschland haben darüber datenschutzkonformen Zugang zu KI-Anwendungen, und</a:t>
            </a:r>
          </a:p>
          <a:p>
            <a:r>
              <a:rPr i="0"/>
              <a:t>man kann dort eigene Assistenten mit eigenen Anweisungen anlegen. Genau das</a:t>
            </a:r>
          </a:p>
          <a:p>
            <a:r>
              <a:rPr i="0"/>
              <a:t>ist mein Prompt. Zustimmung außerhalb des Pilotbereichs braucht es dafür</a:t>
            </a:r>
          </a:p>
          <a:p>
            <a:r>
              <a:rPr i="0"/>
              <a:t>nicht, weil der Rahmenvertrag schon da ist. Zu klären ist allerdings, ob die</a:t>
            </a:r>
          </a:p>
          <a:p>
            <a:r>
              <a:rPr i="0"/>
              <a:t>vhs Frankfurt die Lizenz auch tatsächlich gebucht hat — der Rahmenvertrag</a:t>
            </a:r>
          </a:p>
          <a:p>
            <a:r>
              <a:rPr i="0"/>
              <a:t>schafft die Möglichkeit, er ist nicht die Buchung.</a:t>
            </a:r>
          </a:p>
          <a:p/>
          <a:p>
            <a:r>
              <a:rPr i="0"/>
              <a:t>### Die Einschränkung zu Weg 1</a:t>
            </a:r>
          </a:p>
          <a:p/>
          <a:p>
            <a:r>
              <a:rPr i="0"/>
              <a:t>Eine Einschränkung gehört dazu, denn diesen Weg habe ich nicht ausprobiert:</a:t>
            </a:r>
          </a:p>
          <a:p>
            <a:r>
              <a:rPr i="0"/>
              <a:t>Mein Prüfwerkzeug bearbeitet jede Antwort nach. Es rechnet die Einstufung</a:t>
            </a:r>
          </a:p>
          <a:p>
            <a:r>
              <a:rPr i="0"/>
              <a:t>anhand einer Tabelle nach und entfernt Personennamen. Beides stand</a:t>
            </a:r>
          </a:p>
          <a:p>
            <a:r>
              <a:rPr i="0"/>
              <a:t>ursprünglich im Prompt, und beides hielt das Modell nicht zuverlässig ein —</a:t>
            </a:r>
          </a:p>
          <a:p>
            <a:r>
              <a:rPr i="0"/>
              <a:t>deshalb steht es heute im Programmcode. In einem fremden Assistenten gibt es</a:t>
            </a:r>
          </a:p>
          <a:p>
            <a:r>
              <a:rPr i="0"/>
              <a:t>diesen Code nicht. Was das praktisch bedeutet, muss der Pilot zeigen.</a:t>
            </a:r>
          </a:p>
          <a:p/>
          <a:p>
            <a:r>
              <a:rPr i="0"/>
              <a:t>### Weg 2: Als eigenes Prüfwerkzeug</a:t>
            </a:r>
          </a:p>
          <a:p/>
          <a:p>
            <a:r>
              <a:rPr i="0"/>
              <a:t>Der zweite Weg ist das Prüfwerkzeug, das ich gebaut habe. Dort fügt man den</a:t>
            </a:r>
          </a:p>
          <a:p>
            <a:r>
              <a:rPr i="0"/>
              <a:t>Entwurf ein — oder gibt bei einem vorhandenen Kurs nur die Nummer ein, dann</a:t>
            </a:r>
          </a:p>
          <a:p>
            <a:r>
              <a:rPr i="0"/>
              <a:t>holt es den Text selbst. Die Schnittstelle des Kursportals ist öffentlich, das</a:t>
            </a:r>
          </a:p>
          <a:p>
            <a:r>
              <a:rPr i="0"/>
              <a:t>kostet keinen Zugang; es braucht nur einen eigenen Server.</a:t>
            </a:r>
          </a:p>
          <a:p/>
          <a:p>
            <a:r>
              <a:rPr i="0"/>
              <a:t>### Rechts im Bild: ein Befund</a:t>
            </a:r>
          </a:p>
          <a:p/>
          <a:p>
            <a:r>
              <a:rPr i="0"/>
              <a:t>Rechts steht, was dabei herauskommt: ein Befund aus einem echten Durchlauf,</a:t>
            </a:r>
          </a:p>
          <a:p>
            <a:r>
              <a:rPr i="0"/>
              <a:t>dem Deutschkurs auf A2. Jeder Befund hat dieselben vier Teile: die Einstufung,</a:t>
            </a:r>
          </a:p>
          <a:p>
            <a:r>
              <a:rPr i="0"/>
              <a:t>die Regel, die wörtliche Stelle aus dem Text und einen konkreten Vorschlag.</a:t>
            </a:r>
          </a:p>
          <a:p>
            <a:r>
              <a:rPr i="0"/>
              <a:t>Dieser hier ist Pflicht, der Link heißt schlicht „hier“. Wer sich die Seite</a:t>
            </a:r>
          </a:p>
          <a:p>
            <a:r>
              <a:rPr i="0"/>
              <a:t>vorlesen lässt und von Link zu Link springt, hört nur „hier“. Der Vorschlag</a:t>
            </a:r>
          </a:p>
          <a:p>
            <a:r>
              <a:rPr i="0"/>
              <a:t>daneben ist kein Kommentar, sondern fertiger Text zum Übernehmen.</a:t>
            </a:r>
          </a:p>
          <a:p/>
          <a:p>
            <a:r>
              <a:rPr i="0"/>
              <a:t>### Hier die Vorführung</a:t>
            </a:r>
          </a:p>
          <a:p/>
          <a:p>
            <a:r>
              <a:rPr i="0"/>
              <a:t>Ich zeige euch das kurz live, an genau diesem Kurs.</a:t>
            </a:r>
          </a:p>
          <a:p/>
          <a:p>
            <a:r>
              <a:rPr i="0"/>
              <a:t>Das ist ein Prototyp, den ich für diese Arbeit gebaut habe. Er belegt, dass</a:t>
            </a:r>
          </a:p>
          <a:p>
            <a:r>
              <a:rPr i="0"/>
              <a:t>der Weg funktioniert, er ist keine fertige Anwendung.</a:t>
            </a:r>
          </a:p>
          <a:p/>
          <a:p>
            <a:r>
              <a:rPr i="0"/>
              <a:t>### Der Kasten unten</a:t>
            </a:r>
          </a:p>
          <a:p/>
          <a:p>
            <a:r>
              <a:rPr i="0"/>
              <a:t>Die Nachbemerkung unten ist kein Teil des Pilotprojekts. Man könnte die</a:t>
            </a:r>
          </a:p>
          <a:p>
            <a:r>
              <a:rPr i="0"/>
              <a:t>Prüfung ins Redaktionssystem selbst einbauen, dort, wo der Text entsteht. Nur</a:t>
            </a:r>
          </a:p>
          <a:p>
            <a:r>
              <a:rPr i="0"/>
              <a:t>wird das Portal von einem externen Dienstleister betreut, also hieße das:</a:t>
            </a:r>
          </a:p>
          <a:p>
            <a:r>
              <a:rPr i="0"/>
              <a:t>Auftrag, Budget, Vorlauf. Man kauft nichts, bevor man weiß, ob es wirkt.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Damit zum Change-Teil, und der beginnt mit den </a:t>
            </a:r>
            <a:r>
              <a:rPr b="1" i="0"/>
              <a:t>Stakeholdern</a:t>
            </a:r>
            <a:r>
              <a:rPr i="0"/>
              <a:t>. Die</a:t>
            </a:r>
          </a:p>
          <a:p>
            <a:r>
              <a:rPr b="1" i="0"/>
              <a:t>Einfluss-Betroffenheits-Matrix</a:t>
            </a:r>
            <a:r>
              <a:rPr i="0"/>
              <a:t> sortiert sie nach zwei Fragen: Wer ist</a:t>
            </a:r>
          </a:p>
          <a:p>
            <a:r>
              <a:rPr i="0"/>
              <a:t>betroffen, und wer hat Einfluss.</a:t>
            </a:r>
          </a:p>
          <a:p/>
          <a:p>
            <a:r>
              <a:rPr i="0"/>
              <a:t>### Oben rechts: Eng einbinden</a:t>
            </a:r>
          </a:p>
          <a:p/>
          <a:p>
            <a:r>
              <a:rPr i="0"/>
              <a:t>Wer entscheidet oder zustimmen muss.</a:t>
            </a:r>
          </a:p>
          <a:p/>
          <a:p>
            <a:r>
              <a:rPr b="1" i="0"/>
              <a:t>Der Direktor</a:t>
            </a:r>
            <a:r>
              <a:rPr i="0"/>
              <a:t> — laut Impressum persönlich für die redaktionellen Inhalte</a:t>
            </a:r>
          </a:p>
          <a:p>
            <a:r>
              <a:rPr i="0"/>
              <a:t>verantwortlich.</a:t>
            </a:r>
          </a:p>
          <a:p/>
          <a:p>
            <a:r>
              <a:rPr b="1" i="0"/>
              <a:t>Der Fachbereich des Pilotbereichs</a:t>
            </a:r>
            <a:r>
              <a:rPr i="0"/>
              <a:t> — er entscheidet über den Text. Und</a:t>
            </a:r>
          </a:p>
          <a:p>
            <a:r>
              <a:rPr i="0"/>
              <a:t>zwar nur dieser eine: Vier Fachbereiche gleichzeitig wären kein Pilot mehr.</a:t>
            </a:r>
          </a:p>
          <a:p/>
          <a:p>
            <a:r>
              <a:rPr b="1" i="0"/>
              <a:t>Die Redaktion des Programmhefts</a:t>
            </a:r>
            <a:r>
              <a:rPr i="0"/>
              <a:t> — prüft Texte für den Druck schon heute,</a:t>
            </a:r>
          </a:p>
          <a:p>
            <a:r>
              <a:rPr i="0"/>
              <a:t>weiß also, wie Textprüfung geht.</a:t>
            </a:r>
          </a:p>
          <a:p/>
          <a:p>
            <a:r>
              <a:rPr b="1" i="0"/>
              <a:t>Der Personalrat</a:t>
            </a:r>
            <a:r>
              <a:rPr i="0"/>
              <a:t> — hier ist die Einordnung eigentlich zu schwach. Sein</a:t>
            </a:r>
          </a:p>
          <a:p>
            <a:r>
              <a:rPr i="0"/>
              <a:t>Einfluss ist kein hoher, sondern ein </a:t>
            </a:r>
            <a:r>
              <a:rPr b="1" i="0"/>
              <a:t>sperrender</a:t>
            </a:r>
            <a:r>
              <a:rPr i="0"/>
              <a:t>: Die Einführung des</a:t>
            </a:r>
          </a:p>
          <a:p>
            <a:r>
              <a:rPr i="0"/>
              <a:t>Werkzeugs ist mitbestimmungspflichtig, sie braucht seine Zustimmung. Seine</a:t>
            </a:r>
          </a:p>
          <a:p>
            <a:r>
              <a:rPr i="0"/>
              <a:t>zwei von sechzehn Sitzen in der Betriebskommission sind daneben bedeutungslos.</a:t>
            </a:r>
          </a:p>
          <a:p/>
          <a:p>
            <a:r>
              <a:rPr i="0"/>
              <a:t>### Unten links: Informieren</a:t>
            </a:r>
          </a:p>
          <a:p/>
          <a:p>
            <a:r>
              <a:rPr i="0"/>
              <a:t>Nur dieser eine Fachbereich ist im Pilot — die anderen erfahren davon.</a:t>
            </a:r>
          </a:p>
          <a:p/>
          <a:p>
            <a:r>
              <a:rPr b="1" i="0"/>
              <a:t>Die drei übrigen Fachbereiche</a:t>
            </a:r>
            <a:r>
              <a:rPr i="0"/>
              <a:t> — sollen wissen, dass es läuft, und sehen,</a:t>
            </a:r>
          </a:p>
          <a:p>
            <a:r>
              <a:rPr i="0"/>
              <a:t>was herauskommt. Im Pilot sind sie nicht dabei.</a:t>
            </a:r>
          </a:p>
          <a:p/>
          <a:p>
            <a:r>
              <a:rPr i="0"/>
              <a:t>### Oben links: Beobachten</a:t>
            </a:r>
          </a:p>
          <a:p/>
          <a:p>
            <a:r>
              <a:rPr i="0"/>
              <a:t>Hoher Einfluss, aber mein Projekt verändert ihre Arbeit nicht.</a:t>
            </a:r>
          </a:p>
          <a:p/>
          <a:p>
            <a:r>
              <a:rPr b="1" i="0"/>
              <a:t>Die städtische IT</a:t>
            </a:r>
            <a:r>
              <a:rPr i="0"/>
              <a:t> — bleibt für die technische Seite zuständig.</a:t>
            </a:r>
          </a:p>
          <a:p/>
          <a:p>
            <a:r>
              <a:rPr b="1" i="0"/>
              <a:t>Advellence</a:t>
            </a:r>
            <a:r>
              <a:rPr i="0"/>
              <a:t> — die Schweizer Firma, die laut Impressum das Portal</a:t>
            </a:r>
          </a:p>
          <a:p>
            <a:r>
              <a:rPr i="0"/>
              <a:t>programmiert.</a:t>
            </a:r>
          </a:p>
          <a:p/>
          <a:p>
            <a:r>
              <a:rPr b="1" i="0"/>
              <a:t>Die Betriebskommission</a:t>
            </a:r>
            <a:r>
              <a:rPr i="0"/>
              <a:t> — Aufsichtsgremium.</a:t>
            </a:r>
          </a:p>
          <a:p/>
          <a:p>
            <a:r>
              <a:rPr b="1" i="0"/>
              <a:t>Der Volkshochschul-Verband</a:t>
            </a:r>
            <a:r>
              <a:rPr i="0"/>
              <a:t> — stellt den KI-Zugang, den ich nutze.</a:t>
            </a:r>
          </a:p>
          <a:p/>
          <a:p>
            <a:r>
              <a:rPr i="0"/>
              <a:t>### Unten rechts: Konsultieren</a:t>
            </a:r>
          </a:p>
          <a:p/>
          <a:p>
            <a:r>
              <a:rPr i="0"/>
              <a:t>Der Quadrant, der mich am meisten beschäftigt hat.</a:t>
            </a:r>
          </a:p>
          <a:p/>
          <a:p>
            <a:r>
              <a:rPr b="1" i="0"/>
              <a:t>Die Kursleitungen auf Honorarbasis</a:t>
            </a:r>
            <a:r>
              <a:rPr i="0"/>
              <a:t> — maximal betroffen, denn in der</a:t>
            </a:r>
          </a:p>
          <a:p>
            <a:r>
              <a:rPr i="0"/>
              <a:t>Branche schreiben sie viele dieser Texte. In keinem Gremium sitzen sie, und</a:t>
            </a:r>
          </a:p>
          <a:p>
            <a:r>
              <a:rPr i="0"/>
              <a:t>vorschreiben kann man ihnen als Honorarkräften nichts. Einen Kanal haben sie</a:t>
            </a:r>
          </a:p>
          <a:p>
            <a:r>
              <a:rPr i="0"/>
              <a:t>aber doch: Arbeitnehmerähnliche Personen gelten nach dem</a:t>
            </a:r>
          </a:p>
          <a:p>
            <a:r>
              <a:rPr i="0"/>
              <a:t>Personalvertretungsgesetz als Beschäftigte, der Personalrat vertritt sie mit.</a:t>
            </a:r>
          </a:p>
          <a:p/>
          <a:p>
            <a:r>
              <a:rPr b="1" i="0"/>
              <a:t>Die Teilnehmenden</a:t>
            </a:r>
            <a:r>
              <a:rPr i="0"/>
              <a:t> — besonders in den Deutschkursen und in der</a:t>
            </a:r>
          </a:p>
          <a:p>
            <a:r>
              <a:rPr i="0"/>
              <a:t>Grundbildung. Für sie ist das ganze Projekt gemacht, und sie haben keine</a:t>
            </a:r>
          </a:p>
          <a:p>
            <a:r>
              <a:rPr i="0"/>
              <a:t>Stimme, in keinem Gremium und in keinem Gesetz.</a:t>
            </a:r>
          </a:p>
          <a:p/>
          <a:p>
            <a:r>
              <a:rPr i="0"/>
              <a:t>Bei ihnen ist Beteiligung kein guter Stil, sondern das einzige Instrument, das</a:t>
            </a:r>
          </a:p>
          <a:p>
            <a:r>
              <a:rPr i="0"/>
              <a:t>überhaupt zur Verfügung steht. Was das praktisch heißt, steht auf der nächsten</a:t>
            </a:r>
          </a:p>
          <a:p>
            <a:r>
              <a:rPr i="0"/>
              <a:t>Folie.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Ich zeige für jede einen</a:t>
            </a:r>
          </a:p>
          <a:p>
            <a:r>
              <a:rPr i="0"/>
              <a:t>Fall, den es hier wirklich gibt.</a:t>
            </a:r>
          </a:p>
          <a:p/>
          <a:p>
            <a:r>
              <a:rPr i="0"/>
              <a:t>### Unsicherheit · im ganzen Haus</a:t>
            </a:r>
          </a:p>
          <a:p/>
          <a:p>
            <a:r>
              <a:rPr i="0"/>
              <a:t>Die Frage, die im ganzen Haus als Erstes kommt: Schreibt die</a:t>
            </a:r>
          </a:p>
          <a:p>
            <a:r>
              <a:rPr i="0"/>
              <a:t>KI jetzt unsere Texte? Nein. Sie schlägt vor, mehr nicht. Entschieden und</a:t>
            </a:r>
          </a:p>
          <a:p>
            <a:r>
              <a:rPr i="0"/>
              <a:t>veröffentlicht wird von Menschen. Das ist keine Beruhigung, sondern der</a:t>
            </a:r>
          </a:p>
          <a:p>
            <a:r>
              <a:rPr i="0"/>
              <a:t>Zuschnitt des Werkzeugs.</a:t>
            </a:r>
          </a:p>
          <a:p/>
          <a:p>
            <a:r>
              <a:rPr i="0"/>
              <a:t>### Verlustangst · Fachbereich</a:t>
            </a:r>
          </a:p>
          <a:p/>
          <a:p>
            <a:r>
              <a:rPr i="0"/>
              <a:t>Der einzige Einwand, der noch offen ist. Eine Kursbeschreibung ist selten von</a:t>
            </a:r>
          </a:p>
          <a:p>
            <a:r>
              <a:rPr i="0"/>
              <a:t>einer Hand: Der Anmeldehinweis, die Beschreibung der Niveaustufe — solche</a:t>
            </a:r>
          </a:p>
          <a:p>
            <a:r>
              <a:rPr i="0"/>
              <a:t>Bausteine stehen wortgleich in vielen Kursen und werden nicht in dem Bereich</a:t>
            </a:r>
          </a:p>
          <a:p>
            <a:r>
              <a:rPr i="0"/>
              <a:t>gepflegt, der den Kurs anbietet. Wer die Befunde bekommt, darf den Text also</a:t>
            </a:r>
          </a:p>
          <a:p>
            <a:r>
              <a:rPr i="0"/>
              <a:t>oft gar nicht ändern. Das ist keine Angst vor der Maschine, sondern die</a:t>
            </a:r>
          </a:p>
          <a:p>
            <a:r>
              <a:rPr i="0"/>
              <a:t>Aussicht, für etwas geradezustehen, das einem nicht gehört. Die Antwort ist</a:t>
            </a:r>
          </a:p>
          <a:p>
            <a:r>
              <a:rPr i="0"/>
              <a:t>deshalb keine Schulung, sondern eine Zuständigkeitsfrage — und die gehört vor</a:t>
            </a:r>
          </a:p>
          <a:p>
            <a:r>
              <a:rPr i="0"/>
              <a:t>den Pilot.</a:t>
            </a:r>
          </a:p>
          <a:p/>
          <a:p>
            <a:r>
              <a:rPr i="0"/>
              <a:t>### Fehlende Perspektive · Kursleitung</a:t>
            </a:r>
          </a:p>
          <a:p/>
          <a:p>
            <a:r>
              <a:rPr i="0"/>
              <a:t>Bei den Honorarkräften schärfer als bei allen</a:t>
            </a:r>
          </a:p>
          <a:p>
            <a:r>
              <a:rPr i="0"/>
              <a:t>anderen, weil ihre Abrechnungseinheit die Unterrichtsstunde ist. Textarbeit</a:t>
            </a:r>
          </a:p>
          <a:p>
            <a:r>
              <a:rPr i="0"/>
              <a:t>kommt darin nicht vor, der Einwand ist also berechtigt und gehört auch so</a:t>
            </a:r>
          </a:p>
          <a:p>
            <a:r>
              <a:rPr i="0"/>
              <a:t>beantwortet. Die Antwort ist der Zuschnitt: Geprüft wird im</a:t>
            </a:r>
          </a:p>
          <a:p>
            <a:r>
              <a:rPr i="0"/>
              <a:t>Fachbereich, an dem Text, der dort eingeht. Das schützt auch ihren Status:</a:t>
            </a:r>
          </a:p>
          <a:p>
            <a:r>
              <a:rPr i="0"/>
              <a:t>Verbindliche Regeln und ein Protokoll je Text wären genau die Merkmale, an</a:t>
            </a:r>
          </a:p>
          <a:p>
            <a:r>
              <a:rPr i="0"/>
              <a:t>denen sich eine Scheinselbständigkeit festmachen lässt.</a:t>
            </a:r>
          </a:p>
          <a:p/>
          <a:p>
            <a:r>
              <a:rPr i="0"/>
              <a:t>### Gewohnheit · Redaktion des Programmhefts</a:t>
            </a:r>
          </a:p>
          <a:p/>
          <a:p>
            <a:r>
              <a:rPr i="0"/>
              <a:t>Der Satz, der jedes Qualitätsprojekt begleitet: Es hat sich doch nie jemand</a:t>
            </a:r>
          </a:p>
          <a:p>
            <a:r>
              <a:rPr i="0"/>
              <a:t>beschwert. Und er stimmt vermutlich. Entscheidend ist, wie man darauf antwortet:</a:t>
            </a:r>
          </a:p>
          <a:p>
            <a:r>
              <a:rPr i="0"/>
              <a:t>Diese Redaktion prüft Texte im Haus als Einzige schon heute. Sie ist keine</a:t>
            </a:r>
          </a:p>
          <a:p>
            <a:r>
              <a:rPr i="0"/>
              <a:t>Bremse, sie ist der nächstliegende Verbündete, und so sollte man ihr auch</a:t>
            </a:r>
          </a:p>
          <a:p>
            <a:r>
              <a:rPr i="0"/>
              <a:t>begegnen. Der Punkt ist nur: Wer sich beschwert, hat den Text gelesen und</a:t>
            </a:r>
          </a:p>
          <a:p>
            <a:r>
              <a:rPr i="0"/>
              <a:t>verstanden. Die Menschen, um die es hier geht, fragen nicht nach und melden sich</a:t>
            </a:r>
          </a:p>
          <a:p>
            <a:r>
              <a:rPr i="0"/>
              <a:t>auch nicht an. Ihr Fehlen sieht von innen aus wie Zufriedenheit — dass es bisher</a:t>
            </a:r>
          </a:p>
          <a:p>
            <a:r>
              <a:rPr i="0"/>
              <a:t>niemand gesehen hat, ist deshalb kein Versäumnis, sondern liegt in der Sache.</a:t>
            </a:r>
          </a:p>
          <a:p/>
          <a:p>
            <a:r>
              <a:rPr i="0"/>
              <a:t>### Der Kasten unten</a:t>
            </a:r>
          </a:p>
          <a:p/>
          <a:p>
            <a:r>
              <a:rPr i="0"/>
              <a:t>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Strang Kommunikation: Training</a:t>
            </a:r>
          </a:p>
          <a:p/>
          <a:p>
            <a:r>
              <a:rPr i="0"/>
              <a:t>Erstens das Training im zweiten Monat. Das ist keine Kür, sondern Pflicht:</a:t>
            </a:r>
          </a:p>
          <a:p>
            <a:r>
              <a:rPr i="0"/>
              <a:t>Artikel vier der KI-Verordnung verlangt seit Februar zweitausendfünfundzwanzig</a:t>
            </a:r>
          </a:p>
          <a:p>
            <a:r>
              <a:rPr i="0"/>
              <a:t>ausreichende KI-Kompetenz, und zwar für das Personal und für alle, die im</a:t>
            </a:r>
          </a:p>
          <a:p>
            <a:r>
              <a:rPr i="0"/>
              <a:t>Auftrag mit Betrieb und Nutzung befasst sind. Deshalb steht in der Zelle nicht</a:t>
            </a:r>
          </a:p>
          <a:p>
            <a:r>
              <a:rPr i="0"/>
              <a:t>Personal, sondern alle, die bedienen. Wer nicht bedient, braucht die Schulung</a:t>
            </a:r>
          </a:p>
          <a:p>
            <a:r>
              <a:rPr i="0"/>
              <a:t>nicht — das ist der Grund, warum die Kursleitungen aus dieser Kette bleiben.</a:t>
            </a:r>
          </a:p>
          <a:p/>
          <a:p>
            <a:r>
              <a:rPr i="0"/>
              <a:t>### Strang Change: erst fragen, dann handeln</a:t>
            </a:r>
          </a:p>
          <a:p/>
          <a:p>
            <a:r>
              <a:rPr i="0"/>
              <a:t>Und zweitens die Reihenfolge im Change-Strang: erst fragen, dann handeln. Die</a:t>
            </a:r>
          </a:p>
          <a:p>
            <a:r>
              <a:rPr i="0"/>
              <a:t>Freigabe der Textbausteine steht deshalb im ersten Monat und nicht im zweiten,</a:t>
            </a:r>
          </a:p>
          <a:p>
            <a:r>
              <a:rPr i="0"/>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und das ist keine Aufzählung, sondern eine</a:t>
            </a:r>
          </a:p>
          <a:p>
            <a:r>
              <a:rPr i="0"/>
              <a:t>Reihenfolge: Jeder Schritt bedingt den nächsten.</a:t>
            </a:r>
          </a:p>
          <a:p/>
          <a:p>
            <a:r>
              <a:rPr i="0"/>
              <a:t>### Die vier Schritte</a:t>
            </a:r>
          </a:p>
          <a:p>
            <a:r>
              <a:rPr i="0"/>
              <a:t>Die Dienstvereinbarung zuerst, aus dem Grund von eben. Dann einen</a:t>
            </a:r>
          </a:p>
          <a:p>
            <a:r>
              <a:rPr i="0"/>
              <a:t>Programmbereich gewinnen, und zwar freiwillig — ein zugewiesener liefert kein</a:t>
            </a:r>
          </a:p>
          <a:p>
            <a:r>
              <a:rPr i="0"/>
              <a:t>belastbares Ergebnis, sondern nur Erfüllung. Dann die Freigabe der Bausteine.</a:t>
            </a:r>
          </a:p>
          <a:p>
            <a:r>
              <a:rPr i="0"/>
              <a:t>Und erst als viertes das Technische, den Assistenten anlegen. Es kostet nichts:</a:t>
            </a:r>
          </a:p>
          <a:p>
            <a:r>
              <a:rPr i="0"/>
              <a:t>kein Einkauf, keine neue Stelle, der KI-Zugang ist da.</a:t>
            </a:r>
          </a:p>
          <a:p/>
          <a:p>
            <a:r>
              <a:rPr i="0"/>
              <a:t>### Der Kasten unten: der dritte Schritt</a:t>
            </a:r>
          </a:p>
          <a:p/>
          <a:p>
            <a:r>
              <a:rPr i="0"/>
              <a:t>Der dritte Schritt ist der, den man am ehesten überspringt, und der teuerste.</a:t>
            </a:r>
          </a:p>
          <a:p>
            <a:r>
              <a:rPr i="0"/>
              <a:t>Lässt man ihn aus, liefert der Pilot eine Liste von Befunden, die im</a:t>
            </a:r>
          </a:p>
          <a:p>
            <a:r>
              <a:rPr i="0"/>
              <a:t>Pilotbereich niemand ändern darf — und das Werkzeug hat sich beim ersten</a:t>
            </a:r>
          </a:p>
          <a:p>
            <a:r>
              <a:rPr i="0"/>
              <a:t>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p>
            <a:r>
              <a:rPr i="0"/>
              <a:t>Vier Kennzahlen mit Ausgangswert und Ziel. Die Befundquote soll von</a:t>
            </a:r>
          </a:p>
          <a:p>
            <a:r>
              <a:rPr i="0"/>
              <a:t>siebenundfünfzig Prozent unter fünfundzwanzig fallen. Alle neuen Texte im</a:t>
            </a:r>
          </a:p>
          <a:p>
            <a:r>
              <a:rPr i="0"/>
              <a:t>Pilotbereich sollen geprüft sein. Und von den einunddreißig Texten für</a:t>
            </a:r>
          </a:p>
          <a:p>
            <a:r>
              <a:rPr i="0"/>
              <a:t>Deutschkurse auf A1 und A2, die heute alle Wörter über dem Niveau ihrer Leser</a:t>
            </a:r>
          </a:p>
          <a:p>
            <a:r>
              <a:rPr i="0"/>
              <a:t>enthalten, sollen höchstens noch zehn betroffen sein.</a:t>
            </a:r>
          </a:p>
          <a:p/>
          <a:p>
            <a:r>
              <a:rPr i="0"/>
              <a:t>### Die vierte Kennzahl: die Befragung</a:t>
            </a:r>
          </a:p>
          <a:p/>
          <a:p>
            <a:r>
              <a:rPr i="0"/>
              <a:t>Die vierte Zeile ist mir wichtig, weil die ersten drei nur den Text messen und</a:t>
            </a:r>
          </a:p>
          <a:p>
            <a:r>
              <a:rPr i="0"/>
              <a:t>nicht die Wirkung. Deshalb frage ich die Teilnehmenden selbst. Nicht über</a:t>
            </a:r>
          </a:p>
          <a:p>
            <a:r>
              <a:rPr i="0"/>
              <a:t>einen Fragebogen auf der Website, denn den füllt genau die Zielgruppe nicht</a:t>
            </a:r>
          </a:p>
          <a:p>
            <a:r>
              <a:rPr i="0"/>
              <a:t>aus, um die es geht. Sondern im Kurs, am Ende einer Stunde, in einfacher</a:t>
            </a:r>
          </a:p>
          <a:p>
            <a:r>
              <a:rPr i="0"/>
              <a:t>Sprache.</a:t>
            </a:r>
          </a:p>
          <a:p/>
          <a:p>
            <a:r>
              <a:rPr i="0"/>
              <a:t>Diese Befragung ist freiwillig und wird vergütet. Sonst wäre sie eine neue</a:t>
            </a:r>
          </a:p>
          <a:p>
            <a:r>
              <a:rPr i="0"/>
              <a:t>Aufgabe ohne Bezahlung, und das ist bei Honorarkräften genau das Problem von</a:t>
            </a:r>
          </a:p>
          <a:p>
            <a:r>
              <a:rPr i="0"/>
              <a:t>der Widerstandsfolie.</a:t>
            </a:r>
          </a:p>
          <a:p/>
          <a:p>
            <a:r>
              <a:rPr i="0"/>
              <a:t>### Letzte Spalte: womit gemessen wird</a:t>
            </a:r>
          </a:p>
          <a:p/>
          <a:p>
            <a:r>
              <a:rPr i="0"/>
              <a:t>In der letzten Spalte steht, womit gemessen wird. Die Nachmessung läuft mit</a:t>
            </a:r>
          </a:p>
          <a:p>
            <a:r>
              <a:rPr i="0"/>
              <a:t>demselben Skript wie die Ausgangsmessung, und dafür bleibt es unverändert</a:t>
            </a:r>
          </a:p>
          <a:p>
            <a:r>
              <a:rPr i="0"/>
              <a:t>liegen. Wäre es zwischendurch verbessert worden, wüsste man hinterher</a:t>
            </a:r>
          </a:p>
          <a:p>
            <a:r>
              <a:rPr i="0"/>
              <a:t>nicht, ob die Texte besser geworden sind oder nur die Messung anders.</a:t>
            </a:r>
          </a:p>
          <a:p/>
          <a:p>
            <a:r>
              <a:rPr i="0"/>
              <a:t>### Das Risiko unten</a:t>
            </a:r>
          </a:p>
          <a:p/>
          <a:p>
            <a:r>
              <a:rPr i="0"/>
              <a:t>Das Risiko steckt in den Kennzahlen selbst. Die ersten drei lassen sich</a:t>
            </a:r>
          </a:p>
          <a:p>
            <a:r>
              <a:rPr i="0"/>
              <a:t>erfüllen, ohne dass ein einziger Text besser wird: Wer lange Sätze teilt und</a:t>
            </a:r>
          </a:p>
          <a:p>
            <a:r>
              <a:rPr i="0"/>
              <a:t>schwere Wörter austauscht, drückt die Befundquote — ob der Text dadurch</a:t>
            </a:r>
          </a:p>
          <a:p>
            <a:r>
              <a:rPr i="0"/>
              <a:t>verständlicher geworden ist, hat dann noch niemand gefragt. Ein kürzerer Satz</a:t>
            </a:r>
          </a:p>
          <a:p>
            <a:r>
              <a:rPr i="0"/>
              <a:t>ist nicht automatisch ein verständlicherer.</a:t>
            </a:r>
          </a:p>
          <a:p/>
          <a:p>
            <a:r>
              <a:rPr i="0"/>
              <a:t>Genau dagegen steht die vierte Kennzahl. Sie fragt nicht den Text, sondern die</a:t>
            </a:r>
          </a:p>
          <a:p>
            <a:r>
              <a:rPr i="0"/>
              <a:t>Menschen, für die er geschrieben ist. Ohne sie misst der Pilot am Ende nur</a:t>
            </a:r>
          </a:p>
          <a:p>
            <a:r>
              <a:rPr i="0"/>
              <a:t>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