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als Aufsichtsgremium.</a:t>
            </a:r>
          </a:p>
          <a:p>
            <a:r>
              <a:rPr i="0"/>
              <a:t>- </a:t>
            </a:r>
            <a:r>
              <a:rPr b="1" i="0"/>
              <a:t>Der Volkshochschul-Verband</a:t>
            </a:r>
            <a:r>
              <a:rPr i="0"/>
              <a:t> — stellt den KI-Zugang.</a:t>
            </a:r>
          </a:p>
          <a:p/>
          <a:p>
            <a:r>
              <a:rPr i="0"/>
              <a:t>### Unten rechts: Konsultieren</a:t>
            </a:r>
          </a:p>
          <a:p>
            <a:r>
              <a:rPr i="0"/>
              <a:t>- </a:t>
            </a:r>
            <a:r>
              <a:rPr b="1" i="0"/>
              <a:t>Die Kursleitungen auf Honorarbasis</a:t>
            </a:r>
            <a:r>
              <a:rPr i="0"/>
              <a:t> — oft kommt der Text von ihnen. Trotzdem sitzen sie in keinem Gremium, und vorschreiben kann man ihnen nichts.</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 den Widerständen.</a:t>
            </a:r>
          </a:p>
          <a:p/>
          <a:p>
            <a:r>
              <a:rPr i="0"/>
              <a:t>### Unsicherheit · im ganzen Haus</a:t>
            </a:r>
          </a:p>
          <a:p>
            <a:r>
              <a:rPr i="0"/>
              <a:t>- Die Frage, die als Erstes kommen könnte: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erkläre die Logik dahinter.</a:t>
            </a:r>
          </a:p>
          <a:p/>
          <a:p>
            <a:r>
              <a:rPr i="0"/>
              <a:t>### Die Logik: eine Kette von Freigaben</a:t>
            </a:r>
          </a:p>
          <a:p>
            <a:r>
              <a:rPr i="0"/>
              <a:t>- Jeder Monat gibt den nächsten erst frei.</a:t>
            </a:r>
          </a:p>
          <a:p>
            <a:r>
              <a:rPr i="0"/>
              <a:t>- </a:t>
            </a:r>
            <a:r>
              <a:rPr b="1" i="0">
                <a:solidFill>
                  <a:srgbClr val="A4162B"/>
                </a:solidFill>
              </a:rPr>
              <a:t>Ohne Dienstvereinbarung kein Setup, ohne Training kein Pilot, ohne Nachmessung kein Rollout.</a:t>
            </a:r>
          </a:p>
          <a:p>
            <a:r>
              <a:rPr i="0"/>
              <a:t>- Der Rollout im dritten Monat wird deshalb nur vorbereitet. Ob er kommt, entscheidet die Nachmessung — nicht der Kalender.</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Der Kasten unten: die Bausteinfreigabe</a:t>
            </a:r>
          </a:p>
          <a:p>
            <a:r>
              <a:rPr i="0"/>
              <a:t>- Im Change-Strang steht das Fragen vor dem Handeln: Die Freigabe der Textbausteine wird im ersten Monat geklärt, korrigiert wird im zweiten.</a:t>
            </a:r>
          </a:p>
          <a:p>
            <a:r>
              <a:rPr i="0"/>
              <a:t>- Warum die Bausteine zuerst? Ein korrigierter Baustein wirkt sofort in vielen Kursen gleichzeitig — der früheste sichtbare Erfolg, den dieses Projekt haben kann.</a:t>
            </a:r>
          </a:p>
          <a:p>
            <a:r>
              <a:rPr i="0"/>
              <a:t>- </a:t>
            </a:r>
            <a:r>
              <a:rPr b="1" i="0">
                <a:solidFill>
                  <a:srgbClr val="A4162B"/>
                </a:solidFill>
              </a:rPr>
              <a:t>Ohne die Zuständigkeit aus dem ersten Monat dürfte ihn im zweiten niemand anfassen.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Fachbereich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