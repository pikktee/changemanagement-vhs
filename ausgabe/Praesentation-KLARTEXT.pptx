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Callout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b="1" i="0">
                <a:solidFill>
                  <a:srgbClr val="A4162B"/>
                </a:solidFill>
              </a:rPr>
              <a:t>Funfact:</a:t>
            </a:r>
            <a:r>
              <a:rPr i="0"/>
              <a:t> Die Liste geht laut Goethe-Institut auf eine Veröffentlichung der Prüfungszentrale des Deutschen Volkshochschul-Verbands zurück.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Zur technischen Implementierung</a:t>
            </a:r>
          </a:p>
          <a:p>
            <a:r>
              <a:rPr i="0"/>
              <a:t>- Zwei Wege sind zu Beginn des Pilotprojekts verfügbar.</a:t>
            </a:r>
          </a:p>
          <a:p/>
          <a:p>
            <a:r>
              <a:rPr i="0"/>
              <a:t>### Weg 1: Als KI-Assistent bei fobizz</a:t>
            </a:r>
          </a:p>
          <a:p>
            <a:r>
              <a:rPr i="0"/>
              <a:t>- Braucht keine eigene Technik.</a:t>
            </a:r>
          </a:p>
          <a:p>
            <a:r>
              <a:rPr i="0"/>
              <a:t>- Der Deutsche Volkshochschul-Verband hat im Mai 2025 eine Rahmenvereinbarung mit dem Anbieter </a:t>
            </a:r>
            <a:r>
              <a:rPr b="1" i="0"/>
              <a:t>fobizz</a:t>
            </a:r>
            <a:r>
              <a:rPr i="0"/>
              <a:t> geschlossen: datenschutzkonformer KI-Zugang für alle Volkshochschulen, mit eigenen Assistenten und eigenen Anweisungen.</a:t>
            </a:r>
          </a:p>
          <a:p>
            <a:r>
              <a:rPr i="0"/>
              <a:t>- Zustimmung außerhalb des Pilotbereichs braucht es nicht, weil bereits ein Rahmenvertrag besteht.</a:t>
            </a:r>
          </a:p>
          <a:p/>
          <a:p>
            <a:r>
              <a:rPr i="0"/>
              <a:t>### Weg 2: Als eigenes Prüfwerkzeug</a:t>
            </a:r>
          </a:p>
          <a:p>
            <a:r>
              <a:rPr i="0"/>
              <a:t>- Einen Entwurf einfügen — oder einen vorhandenen Kurs auswählen</a:t>
            </a:r>
          </a:p>
          <a:p>
            <a:r>
              <a:rPr i="0"/>
              <a:t>- Die Schnittstelle des Kursportals ist öffentlich. Es braucht nur einen eigenen Server.</a:t>
            </a:r>
          </a:p>
          <a:p>
            <a:r>
              <a:rPr i="0"/>
              <a:t>- Auch um den Prompt zu testen, habe ich hier einen Prototyp gebaut.</a:t>
            </a:r>
          </a:p>
          <a:p/>
          <a:p>
            <a:r>
              <a:rPr i="0"/>
              <a:t>### Unten:</a:t>
            </a:r>
          </a:p>
          <a:p>
            <a:r>
              <a:rPr i="0"/>
              <a:t>- Perspektivisch möglich, aber kein Teil des Pilotprojekts: Man könnte die Prüfung direkt ins Redaktionssystem einbauen, also dort, wo der Text entsteht.</a:t>
            </a:r>
          </a:p>
          <a:p>
            <a:r>
              <a:rPr i="0"/>
              <a:t>- Allerdings wird das Portal von einem externen Dienstleister betreut.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Damit zum Change-Teil: Wen sollten wir im Projekt auf welche Weise berücksichtigen?</a:t>
            </a:r>
          </a:p>
          <a:p>
            <a:r>
              <a:rPr i="0"/>
              <a:t>- Wichtig: Der Pilot beschränkt sich auf einen der vier Fachbereiche.</a:t>
            </a:r>
          </a:p>
          <a:p/>
          <a:p>
            <a:r>
              <a:rPr i="0"/>
              <a:t>- Die </a:t>
            </a:r>
            <a:r>
              <a:rPr b="1" i="0"/>
              <a:t>Einfluss-Betroffenheits-Matrix</a:t>
            </a:r>
            <a:r>
              <a:rPr i="0"/>
              <a:t> sortiert die Stakeholder nach zwei Fragen: Wer ist betroffen, und wer hat Einfluss.</a:t>
            </a:r>
          </a:p>
          <a:p/>
          <a:p>
            <a:r>
              <a:rPr i="0"/>
              <a:t>### Oben rechts: Eng einbinden</a:t>
            </a:r>
          </a:p>
          <a:p>
            <a:r>
              <a:rPr i="0"/>
              <a:t>- Ich fange an mit den Stakeholdern, die wir eng einbinden müssen.</a:t>
            </a:r>
          </a:p>
          <a:p>
            <a:r>
              <a:rPr i="0"/>
              <a:t>- </a:t>
            </a:r>
            <a:r>
              <a:rPr b="1" i="0"/>
              <a:t>Der Direktor</a:t>
            </a:r>
            <a:r>
              <a:rPr i="0"/>
              <a:t> — da er laut Impressum persönlich für die redaktionellen Inhalte verantwortlich ist.</a:t>
            </a:r>
          </a:p>
          <a:p>
            <a:r>
              <a:rPr i="0"/>
              <a:t>- </a:t>
            </a:r>
            <a:r>
              <a:rPr b="1" i="0"/>
              <a:t>Der Pilot-Fachbereich</a:t>
            </a:r>
            <a:r>
              <a:rPr i="0"/>
              <a:t> — natürlich, er entscheidet über den Text.</a:t>
            </a:r>
          </a:p>
          <a:p>
            <a:r>
              <a:rPr i="0"/>
              <a:t>- </a:t>
            </a:r>
            <a:r>
              <a:rPr b="1" i="0"/>
              <a:t>Der Personalrat</a:t>
            </a:r>
            <a:r>
              <a:rPr i="0"/>
              <a:t> — der Einzige, der das Projekt anhalten kann: Die Einführung ist mitbestimmungspflichtig. </a:t>
            </a:r>
            <a:r>
              <a:rPr b="1" i="0">
                <a:solidFill>
                  <a:srgbClr val="A4162B"/>
                </a:solidFill>
              </a:rPr>
              <a:t>Ohne seine Zustimmung passiert nichts.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Die Betriebskommission</a:t>
            </a:r>
            <a:r>
              <a:rPr i="0"/>
              <a:t> — als Aufsichtsgremium.</a:t>
            </a:r>
          </a:p>
          <a:p>
            <a:r>
              <a:rPr i="0"/>
              <a:t>- </a:t>
            </a:r>
            <a:r>
              <a:rPr b="1" i="0"/>
              <a:t>Der Volkshochschul-Verband</a:t>
            </a:r>
            <a:r>
              <a:rPr i="0"/>
              <a:t> — stellt den KI-Zugang.</a:t>
            </a:r>
          </a:p>
          <a:p/>
          <a:p>
            <a:r>
              <a:rPr i="0"/>
              <a:t>### Unten rechts: Konsultieren</a:t>
            </a:r>
          </a:p>
          <a:p>
            <a:r>
              <a:rPr i="0"/>
              <a:t>- </a:t>
            </a:r>
            <a:r>
              <a:rPr b="1" i="0"/>
              <a:t>Die Kursleitungen auf Honorarbasis</a:t>
            </a:r>
            <a:r>
              <a:rPr i="0"/>
              <a:t> — oft kommt der Text von ihnen. Trotzdem sitzen sie in keinem Gremium, und vorschreiben kann man ihnen nichts.</a:t>
            </a:r>
          </a:p>
          <a:p>
            <a:r>
              <a:rPr i="0"/>
              <a:t>- </a:t>
            </a:r>
            <a:r>
              <a:rPr b="1" i="0"/>
              <a:t>Die Redaktion des Programmhefts</a:t>
            </a:r>
            <a:r>
              <a:rPr i="0"/>
              <a:t> — prüft Texte für den Druck schon heute, weiß also, wie Textprüfung geht. </a:t>
            </a:r>
            <a:r>
              <a:rPr i="1"/>
              <a:t>Im Pilot ist sie nicht: Der prüft nur neue Portaltexte.</a:t>
            </a:r>
          </a:p>
          <a:p>
            <a:r>
              <a:rPr i="0"/>
              <a:t>- </a:t>
            </a:r>
            <a:r>
              <a:rPr b="1" i="0"/>
              <a:t>Die Teilnehmenden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 den Widerständen.</a:t>
            </a:r>
          </a:p>
          <a:p/>
          <a:p>
            <a:r>
              <a:rPr i="0"/>
              <a:t>### Unsicherheit · im ganzen Haus</a:t>
            </a:r>
          </a:p>
          <a:p>
            <a:r>
              <a:rPr i="0"/>
              <a:t>- Die Frage, die als Erstes kommen könnte: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Strang Change: erst fragen, dann handeln</a:t>
            </a:r>
          </a:p>
          <a:p>
            <a:r>
              <a:rPr i="0"/>
              <a:t>- Die Freigabe der Textbausteine steht im ersten Monat, nicht im zweiten.</a:t>
            </a:r>
          </a:p>
          <a:p>
            <a:r>
              <a:rPr i="0"/>
              <a:t>- </a:t>
            </a:r>
            <a:r>
              <a:rPr b="1" i="0">
                <a:solidFill>
                  <a:srgbClr val="A4162B"/>
                </a:solidFill>
              </a:rPr>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Fachbereich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