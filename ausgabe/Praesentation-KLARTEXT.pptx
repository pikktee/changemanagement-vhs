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Lösung. Sie beginnt mit einer Abgrenzung, und die halte ich für den</a:t>
            </a:r>
          </a:p>
          <a:p>
            <a:r>
              <a:rPr i="0"/>
              <a:t>wichtigsten Teil meines Konzepts.</a:t>
            </a:r>
          </a:p>
          <a:p/>
          <a:p>
            <a:r>
              <a:rPr i="0"/>
              <a:t>### Die Website</a:t>
            </a:r>
          </a:p>
          <a:p>
            <a:r>
              <a:rPr i="0"/>
              <a:t>- Links steht, was an der Website als Ganzem hängt: Kontraste, Tastaturbedienung, Seitentitel, Navigation.</a:t>
            </a:r>
          </a:p>
          <a:p>
            <a:r>
              <a:rPr i="0"/>
              <a:t>- Prüfbar, ohne einen einzigen Kurs zu kennen. Gilt für alle 5800 Texte gleich.</a:t>
            </a:r>
          </a:p>
          <a:p>
            <a:r>
              <a:rPr i="0"/>
              <a:t>- Dafür gibt es etablierte Programme wie </a:t>
            </a:r>
            <a:r>
              <a:rPr b="1" i="0"/>
              <a:t>axe-core</a:t>
            </a:r>
            <a:r>
              <a:rPr i="0"/>
              <a:t>. Zuständig ist die städtische IT.</a:t>
            </a:r>
          </a:p>
          <a:p/>
          <a:p>
            <a:r>
              <a:rPr i="0"/>
              <a:t>### Der einzelne Text</a:t>
            </a:r>
          </a:p>
          <a:p>
            <a:r>
              <a:rPr i="0"/>
              <a:t>- Rechts steht, was am einzelnen Text hängt: </a:t>
            </a:r>
            <a:r>
              <a:rPr b="1" i="0">
                <a:solidFill>
                  <a:srgbClr val="A4162B"/>
                </a:solidFill>
              </a:rPr>
              <a:t>Versteht die Zielgruppe genau dieses Kurses ihn?</a:t>
            </a:r>
          </a:p>
          <a:p>
            <a:r>
              <a:rPr i="0"/>
              <a:t>- Das lässt sich nicht beantworten, ohne zu wissen, wer liest. Zuständig sind die Programmbereiche.</a:t>
            </a:r>
          </a:p>
          <a:p/>
          <a:p>
            <a:r>
              <a:rPr i="0"/>
              <a:t>### Der Kasten unten</a:t>
            </a:r>
          </a:p>
          <a:p>
            <a:r>
              <a:rPr i="0"/>
              <a:t>- Die Trennlinie verläuft also nicht zwischen Sprache und Technik. Zwei meiner sechs Regeln sind selbst Pflichtkriterien.</a:t>
            </a:r>
          </a:p>
          <a:p>
            <a:r>
              <a:rPr i="0"/>
              <a:t>- Beispiel: eine hervorgehobene Zeile, die als Überschrift gemeint ist, im Quelltext aber keine. Das Prüfprogramm sieht dort nur Fließtext und meldet nichts.</a:t>
            </a:r>
          </a:p>
          <a:p>
            <a:r>
              <a:rPr i="0"/>
              <a:t>- Ob sie eine Überschrift sein sollte, kann man dem Text nicht ansehen, sondern nur verstehen. Deshalb liegt dieses Pflichtkriterium rechts.</a:t>
            </a:r>
          </a:p>
          <a:p>
            <a:r>
              <a:rPr i="0"/>
              <a:t>- </a:t>
            </a:r>
            <a:r>
              <a:rPr i="1"/>
              <a:t>Beim Bauen hat sich das dreimal bestätigt: Drei Zusagen, die zuerst im Prompt standen, hielt das Modell nicht zuverlässig ein. Alle drei stehen heute im Programmcode.</a:t>
            </a:r>
          </a:p>
          <a:p/>
          <a:p>
            <a:r>
              <a:rPr i="0"/>
              <a:t>### Technische Voraussetzungen</a:t>
            </a:r>
          </a:p>
          <a:p>
            <a:r>
              <a:rPr i="0"/>
              <a:t>- Der KI-Zugang, den der Volkshochschul-Verband ohnehin bereitstellt, ein dort angelegter Assistent, die Wortliste als Datei.</a:t>
            </a:r>
          </a:p>
          <a:p>
            <a:r>
              <a:rPr i="0"/>
              <a:t>- Kein neuer Vertrag, kein Eingriff ins Kursverwaltungssystem.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Zum Kern der Aufgabe, dem System-Prompt. Er folgt der Sechs-Komponenten-</a:t>
            </a:r>
          </a:p>
          <a:p>
            <a:r>
              <a:rPr i="0"/>
              <a:t>Struktur aus dem Aufgabenblatt.</a:t>
            </a:r>
          </a:p>
          <a:p/>
          <a:p>
            <a:r>
              <a:rPr i="0"/>
              <a:t>### Rolle, Aufgabe, Format</a:t>
            </a:r>
          </a:p>
          <a:p>
            <a:r>
              <a:rPr i="0"/>
              <a:t>- </a:t>
            </a:r>
            <a:r>
              <a:rPr b="1" i="0"/>
              <a:t>ROLLE</a:t>
            </a:r>
            <a:r>
              <a:rPr i="0"/>
              <a:t>: Redaktionsassistenz, nicht Autorin.</a:t>
            </a:r>
          </a:p>
          <a:p>
            <a:r>
              <a:rPr i="0"/>
              <a:t>- </a:t>
            </a:r>
            <a:r>
              <a:rPr b="1" i="0"/>
              <a:t>AUFGABE</a:t>
            </a:r>
            <a:r>
              <a:rPr i="0"/>
              <a:t>: erst die Zielgruppe bestimmen, dann prüfen. Die Reihenfolge steht fest.</a:t>
            </a:r>
          </a:p>
          <a:p>
            <a:r>
              <a:rPr i="0"/>
              <a:t>- </a:t>
            </a:r>
            <a:r>
              <a:rPr b="1" i="0"/>
              <a:t>FORMAT</a:t>
            </a:r>
            <a:r>
              <a:rPr i="0"/>
              <a:t>: zu jedem Befund ein wörtliches Zitat, eine Begründung, ein konkreter Vorschlag. </a:t>
            </a:r>
            <a:r>
              <a:rPr b="1" i="0">
                <a:solidFill>
                  <a:srgbClr val="A4162B"/>
                </a:solidFill>
              </a:rPr>
              <a:t>Ohne Vorschlag kein Befund.</a:t>
            </a:r>
          </a:p>
          <a:p/>
          <a:p>
            <a:r>
              <a:rPr i="0"/>
              <a:t>### Kontext: die Wortliste</a:t>
            </a:r>
          </a:p>
          <a:p>
            <a:r>
              <a:rPr i="0"/>
              <a:t>- Der KONTEXT enthält das Hauswissen: acht Programmbereiche, interne Abkürzungen, sechs Prüfregeln.</a:t>
            </a:r>
          </a:p>
          <a:p>
            <a:r>
              <a:rPr i="0"/>
              <a:t>- Der wichtigste Teil: 820 Wörter des Prüfungswortschatzes für das </a:t>
            </a:r>
            <a:r>
              <a:rPr b="1" i="0"/>
              <a:t>Goethe-Zertifikat A1</a:t>
            </a:r>
            <a:r>
              <a:rPr i="0"/>
              <a:t>. Vollständig im Prompt, nicht als Verweis.</a:t>
            </a:r>
          </a:p>
          <a:p>
            <a:r>
              <a:rPr i="0"/>
              <a:t>- </a:t>
            </a:r>
            <a:r>
              <a:rPr b="1" i="0">
                <a:solidFill>
                  <a:srgbClr val="A4162B"/>
                </a:solidFill>
              </a:rPr>
              <a:t>Er schätzt das Sprachniveau also nicht, er begründet es.</a:t>
            </a:r>
          </a:p>
          <a:p>
            <a:r>
              <a:rPr i="0"/>
              <a:t>- Das ist das Ergebnis der ersten Überarbeitung: Vorher behauptete der Prompt, gegen Wortlisten zu prüfen, hatte sie aber gar nicht. Er schätzte frei und klang nach Beleg — derselbe Fehler, den ich anderen Werkzeugen vorwerfe.</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Dieser eine Satz leistet zweierlei.</a:t>
            </a:r>
          </a:p>
          <a:p>
            <a:r>
              <a:rPr i="0"/>
              <a:t>- Er hält das Projekt aus dem Hochrisikobereich der KI-Verordnung: Hoch eingestuft wird dort nur, was Menschen bewertet — dieses System bewertet Texte.</a:t>
            </a:r>
          </a:p>
          <a:p>
            <a:r>
              <a:rPr i="0"/>
              <a:t>- Und er ist die Antwort auf die Frage des 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