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Begrüßung</a:t>
            </a:r>
          </a:p>
          <a:p/>
          <a:p>
            <a:r>
              <a:rPr i="0"/>
              <a:t>Willkommen zu meinem Abschlussprojekt!</a:t>
            </a:r>
          </a:p>
          <a:p>
            <a:r>
              <a:rPr i="0"/>
              <a:t>- KLARTEXT, ein KI-gestützter Prüfschritt für die Kursbeschreibungen der Volkshochschule Frankfurt.</a:t>
            </a:r>
          </a:p>
          <a:p/>
          <a:p>
            <a:r>
              <a:rPr i="0"/>
              <a:t>### Worum geht es?</a:t>
            </a:r>
          </a:p>
          <a:p/>
          <a:p>
            <a:r>
              <a:rPr i="0"/>
              <a:t>- Barrierefreiheit.</a:t>
            </a:r>
          </a:p>
          <a:p>
            <a:r>
              <a:rPr i="0"/>
              <a:t>- Aber nicht der technische Teil wie Kontraste oder Tastaturbedienung, sondern:</a:t>
            </a:r>
          </a:p>
          <a:p>
            <a:r>
              <a:rPr i="0"/>
              <a:t>- ob der Text ankommt bei denen, für die er geschrieben ist.</a:t>
            </a:r>
          </a:p>
          <a:p/>
          <a:p>
            <a:r>
              <a:rPr i="0"/>
              <a:t>### Ein konkreter Fall</a:t>
            </a:r>
          </a:p>
          <a:p>
            <a:r>
              <a:rPr i="0"/>
              <a:t>- Beispiel: Die Volkshochschule bietet Deutschkurse für Menschen an, die gerade erst Deutsch lernen.</a:t>
            </a:r>
          </a:p>
          <a:p>
            <a:r>
              <a:rPr i="0"/>
              <a:t>- Die Beschreibungen dieser Kurse sind oft in einem Deutsch geschrieben, das man erst nach dem Kurs versteht.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Erstmal eine kurze Übersicht zum Projekt.</a:t>
            </a:r>
          </a:p>
          <a:p/>
          <a:p>
            <a:r>
              <a:rPr i="0"/>
              <a:t>### 5.800 Texte und 57 Prozent</a:t>
            </a:r>
          </a:p>
          <a:p/>
          <a:p>
            <a:r>
              <a:rPr i="0"/>
              <a:t>- Die Volkshochschule veröffentlicht rund 5800 Kursbeschreibungen im Jahr.</a:t>
            </a:r>
          </a:p>
          <a:p>
            <a:r>
              <a:rPr i="0"/>
              <a:t>- Von allen Texten, die heute im Portal stehen, hat mehr als jeder zweite Text einen Befund. </a:t>
            </a:r>
            <a:r>
              <a:rPr i="1"/>
              <a:t>Die Zahl stammt von einem Skript, das ohne KI auskommt und deshalb eine der sechs Regeln nicht prüfen kann. Mit dem Prüfassistenten liegt der Wert höher.</a:t>
            </a:r>
          </a:p>
          <a:p/>
          <a:p>
            <a:r>
              <a:rPr i="0"/>
              <a:t>### Fünf Jahre ohne externe Prüfung</a:t>
            </a:r>
          </a:p>
          <a:p>
            <a:r>
              <a:rPr i="0"/>
              <a:t>Die letzte externe Prüfung auf Barrierefreiheit der Website ist etwa 5 Jahre</a:t>
            </a:r>
          </a:p>
          <a:p>
            <a:r>
              <a:rPr i="0"/>
              <a:t>her. Die Zahl stammt aus der Erklärung zur Barrierefreiheit der</a:t>
            </a:r>
          </a:p>
          <a:p>
            <a:r>
              <a:rPr i="0"/>
              <a:t>Volkshochschule.</a:t>
            </a:r>
          </a:p>
          <a:p/>
          <a:p>
            <a:r>
              <a:rPr i="0"/>
              <a:t>### Einfache Sprache, der eigentliche Anlass</a:t>
            </a:r>
          </a:p>
          <a:p>
            <a:r>
              <a:rPr i="0"/>
              <a:t>Dort heißt es auch, dass Informationen zu Betrieb und Kursgeschäft in</a:t>
            </a:r>
          </a:p>
          <a:p>
            <a:r>
              <a:rPr i="0"/>
              <a:t>einfacher Sprache verfügbar sind. Das gilt jedoch nicht für die</a:t>
            </a:r>
          </a:p>
          <a:p>
            <a:r>
              <a:rPr i="0"/>
              <a:t>Kursbeschreibungen selbst, die immerhin den größten Textbestand darstellen.</a:t>
            </a:r>
          </a:p>
          <a:p/>
          <a:p>
            <a:r>
              <a:rPr i="0"/>
              <a:t>### Der Kasten unten</a:t>
            </a:r>
          </a:p>
          <a:p>
            <a:r>
              <a:rPr i="0"/>
              <a:t>Vor allem hier setzt das Projekt 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Daraus folgt mein Vorschlag.</a:t>
            </a:r>
          </a:p>
          <a:p/>
          <a:p>
            <a:r>
              <a:rPr i="0"/>
              <a:t>### Ziel</a:t>
            </a:r>
          </a:p>
          <a:p>
            <a:r>
              <a:rPr i="0"/>
              <a:t>- *vorlesen*</a:t>
            </a:r>
          </a:p>
          <a:p/>
          <a:p>
            <a:r>
              <a:rPr i="0"/>
              <a:t>### Lösung</a:t>
            </a:r>
          </a:p>
          <a:p>
            <a:r>
              <a:rPr i="0"/>
              <a:t>- </a:t>
            </a:r>
            <a:r>
              <a:rPr b="1" i="0">
                <a:solidFill>
                  <a:srgbClr val="A4162B"/>
                </a:solidFill>
              </a:rPr>
              <a:t>Ein Prüfschritt zur Sicherstellung der Zugänglichkeit eines Kurstextes für die Zielgruppe des Textes vor der Veröffentlichung.</a:t>
            </a:r>
            <a:r>
              <a:rPr i="0"/>
              <a:t> (weiter vorlesen)</a:t>
            </a:r>
          </a:p>
          <a:p/>
          <a:p>
            <a:r>
              <a:rPr i="0"/>
              <a:t>### Abgrenzung</a:t>
            </a:r>
          </a:p>
          <a:p>
            <a:r>
              <a:rPr i="0"/>
              <a:t>- Für die technische Barrierefreiheit der Website bleiben normale Prüfwerkzeug zuständig, zusammen mit der städtischen IT. Die KI sieht nur den Kurstext.</a:t>
            </a:r>
          </a:p>
          <a:p/>
          <a:p>
            <a:r>
              <a:rPr i="0"/>
              <a:t>### Ergebnis</a:t>
            </a:r>
          </a:p>
          <a:p>
            <a:r>
              <a:rPr i="0"/>
              <a:t>- *vorlesen*</a:t>
            </a:r>
          </a:p>
          <a:p/>
          <a:p>
            <a:r>
              <a:rPr i="0"/>
              <a:t>### Der Kasten unten</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zum Unternehmen und zum aktuellen Prozess.</a:t>
            </a:r>
          </a:p>
          <a:p/>
          <a:p>
            <a:r>
              <a:rPr i="0"/>
              <a:t>### Das Unternehmen</a:t>
            </a:r>
          </a:p>
          <a:p>
            <a:r>
              <a:rPr i="0"/>
              <a:t>- kein Amt, sondern ein Eigenbetrieb der Stadt.</a:t>
            </a:r>
          </a:p>
          <a:p>
            <a:r>
              <a:rPr i="0"/>
              <a:t>- seit 2005 extern qualitätsgeprüft nach </a:t>
            </a:r>
            <a:r>
              <a:rPr b="1" i="0"/>
              <a:t>LQW</a:t>
            </a:r>
            <a:r>
              <a:rPr i="0"/>
              <a:t>, </a:t>
            </a:r>
            <a:r>
              <a:rPr b="1" i="0"/>
              <a:t>Lernerorientierte Qualitätstestierung in der Weiterbildung</a:t>
            </a:r>
          </a:p>
          <a:p>
            <a:r>
              <a:rPr i="0"/>
              <a:t>- Es gibt acht Programmbereiche in vier Fachbereichen</a:t>
            </a:r>
          </a:p>
          <a:p>
            <a:r>
              <a:rPr i="0"/>
              <a:t>- Geleitet wird sie von einem Direktor, der laut Impressum auch persönlich für die redaktionellen Inhalte der Website verantwortlich ist.</a:t>
            </a:r>
          </a:p>
          <a:p>
            <a:r>
              <a:rPr i="0"/>
              <a:t>- Darüber steht eine Betriebskommission mit 16 Sitzen, 2 davon für den Personalrat.</a:t>
            </a:r>
          </a:p>
          <a:p/>
          <a:p>
            <a:r>
              <a:rPr i="0"/>
              <a:t>### Der Satz oben aus der Betriebssatzung</a:t>
            </a:r>
          </a:p>
          <a:p>
            <a:r>
              <a:rPr i="0"/>
              <a:t>Der Satz oben stammt wörtlich aus der Betriebssatzung: Die Angebote stehen</a:t>
            </a:r>
          </a:p>
          <a:p>
            <a:r>
              <a:rPr i="0"/>
              <a:t>grundsätzlich allen offen, ohne Rücksicht auf Vorbildung.</a:t>
            </a:r>
          </a:p>
          <a:p/>
          <a:p>
            <a:r>
              <a:rPr i="0"/>
              <a:t>### So entsteht ein Kurstext</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Zur Potenzialermittlung. Was zählt als Befund und für wen?</a:t>
            </a:r>
          </a:p>
          <a:p/>
          <a:p>
            <a:r>
              <a:rPr i="0"/>
              <a:t>- Erstmal kurz zur Messung: Das Kursportal hat eine offene Schnittstelle. Darüber habe ich alle Kurstexte erhalten und mit einem Skript ausgewertet.</a:t>
            </a:r>
          </a:p>
          <a:p/>
          <a:p>
            <a:r>
              <a:rPr i="0"/>
              <a:t>### Wonach wurde gemssen?</a:t>
            </a:r>
          </a:p>
          <a:p>
            <a:r>
              <a:rPr i="0"/>
              <a:t>- Nach 6 Regeln, die auch im System-Prompt Verwendung finden</a:t>
            </a:r>
          </a:p>
          <a:p/>
          <a:p>
            <a:r>
              <a:rPr i="0"/>
              <a:t>### Es gibt 2 Pflichtregeln</a:t>
            </a:r>
          </a:p>
          <a:p>
            <a:r>
              <a:rPr i="0"/>
              <a:t>- Stehen auf Stufe A der Barrierefreiheitsrichtlinien und sind damit gesetzlich verbindlich.</a:t>
            </a:r>
          </a:p>
          <a:p>
            <a:r>
              <a:rPr i="0"/>
              <a:t>- </a:t>
            </a:r>
            <a:r>
              <a:rPr b="1" i="0"/>
              <a:t>STRUKTUR</a:t>
            </a:r>
            <a:r>
              <a:rPr i="0"/>
              <a:t>: z.B. eine Zeile sieht aus wie eine Überschrift, ist im Quelltext aber gewöhnlicher Fließtext.</a:t>
            </a:r>
          </a:p>
          <a:p>
            <a:r>
              <a:rPr i="0"/>
              <a:t>- </a:t>
            </a:r>
            <a:r>
              <a:rPr b="1" i="0"/>
              <a:t>LINKTEXT</a:t>
            </a:r>
            <a:r>
              <a:rPr i="0"/>
              <a:t>: Der Linktext sagt nicht, wohin er führt. Beispiel: „hier“</a:t>
            </a:r>
          </a:p>
          <a:p>
            <a:r>
              <a:rPr i="0"/>
              <a:t>- </a:t>
            </a:r>
            <a:r>
              <a:rPr b="1" i="0"/>
              <a:t>Bei beiden</a:t>
            </a:r>
            <a:r>
              <a:rPr i="0"/>
              <a:t>: Screen-Reader können die Inhalte damit nicht zuverlässig lesen.</a:t>
            </a:r>
          </a:p>
          <a:p/>
          <a:p>
            <a:r>
              <a:rPr i="0"/>
              <a:t>### Die vier Empfehlungen</a:t>
            </a:r>
          </a:p>
          <a:p>
            <a:r>
              <a:rPr i="0"/>
              <a:t>- Nicht verbindlich, aber sind die wichtigsten des Projekts.</a:t>
            </a:r>
          </a:p>
          <a:p>
            <a:r>
              <a:rPr i="0"/>
              <a:t>- </a:t>
            </a:r>
            <a:r>
              <a:rPr b="1" i="0"/>
              <a:t>NIVEAU:</a:t>
            </a:r>
            <a:r>
              <a:rPr i="0"/>
              <a:t> Niveau heißt: Ein Wort liegt über dem Sprachniveau der Menschen, die den Text lesen sollen. Das ist die Regel, die sich ohne Kenntnis der Zielgruppe überhaupt nicht anwenden lässt.</a:t>
            </a:r>
          </a:p>
          <a:p>
            <a:r>
              <a:rPr i="0"/>
              <a:t>- </a:t>
            </a:r>
            <a:r>
              <a:rPr b="1" i="0"/>
              <a:t>AMTSDEUTSCH</a:t>
            </a:r>
            <a:r>
              <a:rPr i="0"/>
              <a:t>: (vorlesen)</a:t>
            </a:r>
          </a:p>
          <a:p>
            <a:r>
              <a:rPr i="0"/>
              <a:t>- </a:t>
            </a:r>
            <a:r>
              <a:rPr b="1" i="0"/>
              <a:t>SATZ</a:t>
            </a:r>
            <a:r>
              <a:rPr i="0"/>
              <a:t>: Zur Satzlänge sagen die Barrierefreiheitsrichtlinien nichts. Aber die Zahlen orientieren sich an den Empfehlungen für einfache Sprache.</a:t>
            </a:r>
          </a:p>
          <a:p>
            <a:r>
              <a:rPr i="0"/>
              <a:t>- </a:t>
            </a:r>
            <a:r>
              <a:rPr b="1" i="0"/>
              <a:t>ABKÜRZUNG</a:t>
            </a:r>
            <a:r>
              <a:rPr i="0"/>
              <a:t>: Ein Kürzel steht im Text, ohne beim ersten Mal aufgelöst zu werden. Davon hat die vhs einige, D-T-Z zum Beispiel, der Deutsch-Test für Zuwanderer.</a:t>
            </a:r>
          </a:p>
          <a:p/>
          <a:p>
            <a:r>
              <a:rPr i="0"/>
              <a:t>### Zwei Kurse im Vergleich als Beispiel</a:t>
            </a:r>
          </a:p>
          <a:p>
            <a:r>
              <a:rPr i="0"/>
              <a:t>- Englisch A1.1 und Deutsch als Fremdsprache A2.2</a:t>
            </a:r>
          </a:p>
          <a:p>
            <a:r>
              <a:rPr i="0"/>
              <a:t>- Beide Beschreibungen sind auf Deutsch. </a:t>
            </a:r>
            <a:r>
              <a:rPr b="1" i="0">
                <a:solidFill>
                  <a:srgbClr val="A4162B"/>
                </a:solidFill>
              </a:rPr>
              <a:t>Nur kann die eine Zielgruppe Deutsch — die andere lernt es gerade erst.</a:t>
            </a:r>
          </a:p>
          <a:p>
            <a:r>
              <a:rPr i="0"/>
              <a:t>- Englischkurs: kein einziges zu schweres Wort. Deutschkurs: dreiundfünfzig.</a:t>
            </a:r>
          </a:p>
          <a:p>
            <a:r>
              <a:rPr i="0"/>
              <a:t>- Beide Texte haben kurze Sätze. Ein Programm, das nur zählt, findet bei keinem etwas.</a:t>
            </a:r>
          </a:p>
          <a:p/>
          <a:p>
            <a:r>
              <a:rPr i="0"/>
              <a:t>### Der Kasten unten</a:t>
            </a:r>
          </a:p>
          <a:p>
            <a:r>
              <a:rPr i="0"/>
              <a:t>- Man muss wissen, für wen der Text ist. Für Deutschkurse auf den Stufen A1 und A2 gibt es z.B. 31 verschiedene Texte, die  Wörter über dem Niveau ihrer Leser enthalten. Genau hier kann ein KI-Prompt etwas, was ein Standardwerkzeug nicht kann.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noch kurz zur Rechtslage.</a:t>
            </a:r>
          </a:p>
          <a:p/>
          <a:p>
            <a:r>
              <a:rPr i="0"/>
              <a:t>### Was bedeutet Barrierefreiheit?</a:t>
            </a:r>
          </a:p>
          <a:p>
            <a:r>
              <a:rPr i="0"/>
              <a:t>- Digitale Barrierefreiheit bedeutet, dass eine Website auch für Menschen mit Behinderung nutzbar sein muss. Der Maßstab sind die WCAG, mit drei Stufen: A, Doppel A und Dreifach A.</a:t>
            </a:r>
          </a:p>
          <a:p/>
          <a:p>
            <a:r>
              <a:rPr i="0"/>
              <a:t>### Welches Recht gilt?</a:t>
            </a:r>
          </a:p>
          <a:p>
            <a:r>
              <a:rPr i="0"/>
              <a:t>- Wichtig: Für die vhs gilt weder die EU-Richtlinie noch das Barrierefreiheitsstärkungsgesetz unmittelbar.</a:t>
            </a:r>
          </a:p>
          <a:p>
            <a:r>
              <a:rPr i="0"/>
              <a:t>- Als kommunale Einrichtung in Hessen greift Landesrecht: Paragraph 14 des Hessischen Behindertengleichstellungsgesetzes und die hessische Verordnung. Gefordert wird Stufe Doppel A.</a:t>
            </a:r>
          </a:p>
          <a:p/>
          <a:p>
            <a:r>
              <a:rPr i="0"/>
              <a:t>### Callout</a:t>
            </a:r>
          </a:p>
          <a:p>
            <a:r>
              <a:rPr i="0"/>
              <a:t>- Einige der Regeln sind freiwillig, da sie nicht in WCAG Doppel A enthalten sind.</a:t>
            </a:r>
          </a:p>
          <a:p>
            <a:r>
              <a:rPr i="0"/>
              <a:t>- Freiwillig heißt aber nicht belanglos. Paragraph 3 Absatz 1 der hessischen Verordnung verlangt eigenständig, dass Angebote verständlich sind.</a:t>
            </a:r>
          </a:p>
          <a:p>
            <a:r>
              <a:rPr i="0"/>
              <a:t>- Außerdem sagt die Betriebssatzung, dass die Angebote allen offen stehen, ohne Rücksicht auf Vorbildung.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Zur Lösung. Sie beginnt mit einer Abgrenzung, und die halte ich für den</a:t>
            </a:r>
          </a:p>
          <a:p>
            <a:r>
              <a:rPr i="0"/>
              <a:t>wichtigsten Teil meines Konzepts.</a:t>
            </a:r>
          </a:p>
          <a:p/>
          <a:p>
            <a:r>
              <a:rPr i="0"/>
              <a:t>### Linke Spalte: Das Seitengerüst</a:t>
            </a:r>
          </a:p>
          <a:p/>
          <a:p>
            <a:r>
              <a:rPr i="0"/>
              <a:t>Links steht, was am Gerüst der Seite hängt: Kontraste, Tastaturbedienung,</a:t>
            </a:r>
          </a:p>
          <a:p>
            <a:r>
              <a:rPr i="0"/>
              <a:t>Seitentitel, Navigation. Das kann man prüfen, ohne einen einzigen Kurs zu</a:t>
            </a:r>
          </a:p>
          <a:p>
            <a:r>
              <a:rPr i="0"/>
              <a:t>kennen. Es gilt für alle fünftausendachthundert Texte gleich, dafür gibt es</a:t>
            </a:r>
          </a:p>
          <a:p>
            <a:r>
              <a:rPr i="0"/>
              <a:t>etablierte Programme wie axe-core, und zuständig ist die städtische IT.</a:t>
            </a:r>
          </a:p>
          <a:p/>
          <a:p>
            <a:r>
              <a:rPr i="0"/>
              <a:t>### Rechte Spalte: Der einzelne Text</a:t>
            </a:r>
          </a:p>
          <a:p/>
          <a:p>
            <a:r>
              <a:rPr i="0"/>
              <a:t>Rechts steht, was am einzelnen Text hängt. Versteht die Zielgruppe genau</a:t>
            </a:r>
          </a:p>
          <a:p>
            <a:r>
              <a:rPr i="0"/>
              <a:t>dieses Kurses ihn? Diese Frage lässt sich nicht beantworten, ohne zu wissen,</a:t>
            </a:r>
          </a:p>
          <a:p>
            <a:r>
              <a:rPr i="0"/>
              <a:t>wer liest. Zuständig sind die Programmbereiche.</a:t>
            </a:r>
          </a:p>
          <a:p/>
          <a:p>
            <a:r>
              <a:rPr i="0"/>
              <a:t>### Der Kasten unten: wo die Trennlinie verläuft</a:t>
            </a:r>
          </a:p>
          <a:p/>
          <a:p>
            <a:r>
              <a:rPr i="0"/>
              <a:t>Die Trennlinie verläuft also nicht zwischen Sprache und Technik. Zwei meiner</a:t>
            </a:r>
          </a:p>
          <a:p>
            <a:r>
              <a:rPr i="0"/>
              <a:t>sechs Regeln sind selbst Pflichtkriterien der Barrierefreiheit. Ein Beispiel:</a:t>
            </a:r>
          </a:p>
          <a:p>
            <a:r>
              <a:rPr i="0"/>
              <a:t>eine hervorgehobene Zeile, die als Überschrift gemeint ist, aber im Quelltext</a:t>
            </a:r>
          </a:p>
          <a:p>
            <a:r>
              <a:rPr i="0"/>
              <a:t>keine ist. Das Prüfprogramm sieht dort nur Fließtext und meldet nichts. Ob</a:t>
            </a:r>
          </a:p>
          <a:p>
            <a:r>
              <a:rPr i="0"/>
              <a:t>diese Zeile eine Überschrift sein sollte, kann man dem Text nicht ansehen,</a:t>
            </a:r>
          </a:p>
          <a:p>
            <a:r>
              <a:rPr i="0"/>
              <a:t>sondern nur verstehen. Deshalb liegt ausgerechnet dieses Pflichtkriterium</a:t>
            </a:r>
          </a:p>
          <a:p>
            <a:r>
              <a:rPr i="0"/>
              <a:t>rechts.</a:t>
            </a:r>
          </a:p>
          <a:p/>
          <a:p>
            <a:r>
              <a:rPr i="0"/>
              <a:t>Diese Trennung hat sich beim Bauen dreimal selbst bestätigt. Drei Zusagen, die</a:t>
            </a:r>
          </a:p>
          <a:p>
            <a:r>
              <a:rPr i="0"/>
              <a:t>ich zuerst in den Prompt geschrieben hatte, hat das Modell nicht zuverlässig</a:t>
            </a:r>
          </a:p>
          <a:p>
            <a:r>
              <a:rPr i="0"/>
              <a:t>eingehalten. Alle drei stehen jetzt im Programmcode, weil sie feststehen und</a:t>
            </a:r>
          </a:p>
          <a:p>
            <a:r>
              <a:rPr i="0"/>
              <a:t>keine Einschätzung verlangen.</a:t>
            </a:r>
          </a:p>
          <a:p/>
          <a:p>
            <a:r>
              <a:rPr i="0"/>
              <a:t>### Technische Voraussetzungen</a:t>
            </a:r>
          </a:p>
          <a:p/>
          <a:p>
            <a:r>
              <a:rPr i="0"/>
              <a:t>Technisch braucht es den KI-Zugang, den der Volkshochschul-Verband ohnehin</a:t>
            </a:r>
          </a:p>
          <a:p>
            <a:r>
              <a:rPr i="0"/>
              <a:t>bereitstellt, einen dort angelegten Assistenten und die Wortliste als Datei.</a:t>
            </a:r>
          </a:p>
          <a:p>
            <a:r>
              <a:rPr i="0"/>
              <a:t>Kein neuer Vertrag, kein Eingriff ins Kursverwaltungssystem.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Zum Kern der Aufgabe, dem System-Prompt. Er folgt der Sechs-Komponenten-</a:t>
            </a:r>
          </a:p>
          <a:p>
            <a:r>
              <a:rPr i="0"/>
              <a:t>Struktur aus dem Aufgabenblatt.</a:t>
            </a:r>
          </a:p>
          <a:p/>
          <a:p>
            <a:r>
              <a:rPr i="0"/>
              <a:t>### Rolle, Aufgabe, Format</a:t>
            </a:r>
          </a:p>
          <a:p/>
          <a:p>
            <a:r>
              <a:rPr i="0"/>
              <a:t>Die ROLLE macht ihn zur Redaktionsassistenz, nicht zur Autorin. Die AUFGABE</a:t>
            </a:r>
          </a:p>
          <a:p>
            <a:r>
              <a:rPr i="0"/>
              <a:t>schreibt die Reihenfolge vor: erst die Zielgruppe bestimmen, dann prüfen. Das</a:t>
            </a:r>
          </a:p>
          <a:p>
            <a:r>
              <a:rPr i="0"/>
              <a:t>FORMAT erzwingt zu jedem Befund ein wörtliches Zitat, eine Begründung und</a:t>
            </a:r>
          </a:p>
          <a:p>
            <a:r>
              <a:rPr i="0"/>
              <a:t>einen konkreten Vorschlag. Ohne Vorschlag kein Befund.</a:t>
            </a:r>
          </a:p>
          <a:p/>
          <a:p>
            <a:r>
              <a:rPr i="0"/>
              <a:t>### Kontext: die Wortliste</a:t>
            </a:r>
          </a:p>
          <a:p/>
          <a:p>
            <a:r>
              <a:rPr i="0"/>
              <a:t>Der KONTEXT enthält das Hauswissen: die acht Programmbereiche, die internen</a:t>
            </a:r>
          </a:p>
          <a:p>
            <a:r>
              <a:rPr i="0"/>
              <a:t>Abkürzungen, sechs Prüfregeln und — der wichtigste Teil — achthundertzwanzig</a:t>
            </a:r>
          </a:p>
          <a:p>
            <a:r>
              <a:rPr i="0"/>
              <a:t>Wörter des Prüfungswortschatzes für das Goethe-Zertifikat A1. Diese Liste</a:t>
            </a:r>
          </a:p>
          <a:p>
            <a:r>
              <a:rPr i="0"/>
              <a:t>steht vollständig im Prompt, nicht als Verweis. Er schätzt das Sprachniveau</a:t>
            </a:r>
          </a:p>
          <a:p>
            <a:r>
              <a:rPr i="0"/>
              <a:t>also nicht, sondern begründet es.</a:t>
            </a:r>
          </a:p>
          <a:p/>
          <a:p>
            <a:r>
              <a:rPr i="0"/>
              <a:t>Das ist das Ergebnis der ersten Überarbeitung. In meiner ersten Fassung</a:t>
            </a:r>
          </a:p>
          <a:p>
            <a:r>
              <a:rPr i="0"/>
              <a:t>behauptete der Prompt, gegen die Wortlisten zu prüfen, hatte sie aber gar</a:t>
            </a:r>
          </a:p>
          <a:p>
            <a:r>
              <a:rPr i="0"/>
              <a:t>nicht. Er schätzte weiter frei und klang dabei nach Beleg — derselbe Fehler,</a:t>
            </a:r>
          </a:p>
          <a:p>
            <a:r>
              <a:rPr i="0"/>
              <a:t>den ich anderen Werkzeugen vorwerfe. Der Grundstock dieser Listen stammt</a:t>
            </a:r>
          </a:p>
          <a:p>
            <a:r>
              <a:rPr i="0"/>
              <a:t>übrigens laut Goethe-Institut aus einer Veröffentlichung der Prüfungszentrale</a:t>
            </a:r>
          </a:p>
          <a:p>
            <a:r>
              <a:rPr i="0"/>
              <a:t>des Deutschen Volkshochschulverbands in Frankfurt.</a:t>
            </a:r>
          </a:p>
          <a:p/>
          <a:p>
            <a:r>
              <a:rPr i="0"/>
              <a:t>### Der Kasten unten: die Zeile Grenzen</a:t>
            </a:r>
          </a:p>
          <a:p/>
          <a:p>
            <a:r>
              <a:rPr i="0"/>
              <a:t>In der Zeile GRENZEN steht: bewertet Texte, niemals Personen. Dieser eine Satz</a:t>
            </a:r>
          </a:p>
          <a:p>
            <a:r>
              <a:rPr i="0"/>
              <a:t>leistet zweierlei. Er hält das Projekt aus dem Hochrisikobereich der KI-</a:t>
            </a:r>
          </a:p>
          <a:p>
            <a:r>
              <a:rPr i="0"/>
              <a:t>Verordnung heraus, denn hoch eingestuft wird dort nur, was Menschen bewertet —</a:t>
            </a:r>
          </a:p>
          <a:p>
            <a:r>
              <a:rPr i="0"/>
              <a:t>dieses System bewertet Texte. Und er ist die Antwort auf die Frage des</a:t>
            </a:r>
          </a:p>
          <a:p>
            <a:r>
              <a:rPr i="0"/>
              <a:t>Personalrats, ob hier Leistung kontrolliert wird.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Bleibt die Frage, wie das in den Alltag kommt. Dafür gibt es zwei Wege, und</a:t>
            </a:r>
          </a:p>
          <a:p>
            <a:r>
              <a:rPr i="0"/>
              <a:t>beide stehen vom ersten Tag an offen.</a:t>
            </a:r>
          </a:p>
          <a:p/>
          <a:p>
            <a:r>
              <a:rPr i="0"/>
              <a:t>### Weg 1: Als KI-Assistent bei fobizz</a:t>
            </a:r>
          </a:p>
          <a:p/>
          <a:p>
            <a:r>
              <a:rPr i="0"/>
              <a:t>Der erste braucht keine eigene Technik. Der Deutsche Volkshochschul-Verband</a:t>
            </a:r>
          </a:p>
          <a:p>
            <a:r>
              <a:rPr i="0"/>
              <a:t>hat im Mai zweitausendfünfundzwanzig eine Rahmenvereinbarung mit einem</a:t>
            </a:r>
          </a:p>
          <a:p>
            <a:r>
              <a:rPr i="0"/>
              <a:t>Anbieter namens fobizz geschlossen. Mitarbeitende aller Volkshochschulen in</a:t>
            </a:r>
          </a:p>
          <a:p>
            <a:r>
              <a:rPr i="0"/>
              <a:t>Deutschland haben darüber datenschutzkonformen Zugang zu KI-Anwendungen, und</a:t>
            </a:r>
          </a:p>
          <a:p>
            <a:r>
              <a:rPr i="0"/>
              <a:t>man kann dort eigene Assistenten mit eigenen Anweisungen anlegen. Genau das</a:t>
            </a:r>
          </a:p>
          <a:p>
            <a:r>
              <a:rPr i="0"/>
              <a:t>ist mein Prompt. Zustimmung außerhalb des Pilotbereichs braucht es dafür</a:t>
            </a:r>
          </a:p>
          <a:p>
            <a:r>
              <a:rPr i="0"/>
              <a:t>nicht, weil der Rahmenvertrag schon da ist. Zu klären ist allerdings, ob die</a:t>
            </a:r>
          </a:p>
          <a:p>
            <a:r>
              <a:rPr i="0"/>
              <a:t>vhs Frankfurt die Lizenz auch tatsächlich gebucht hat — der Rahmenvertrag</a:t>
            </a:r>
          </a:p>
          <a:p>
            <a:r>
              <a:rPr i="0"/>
              <a:t>schafft die Möglichkeit, er ist nicht die Buchung.</a:t>
            </a:r>
          </a:p>
          <a:p/>
          <a:p>
            <a:r>
              <a:rPr i="0"/>
              <a:t>### Die Einschränkung zu Weg 1</a:t>
            </a:r>
          </a:p>
          <a:p/>
          <a:p>
            <a:r>
              <a:rPr i="0"/>
              <a:t>Eine Einschränkung gehört dazu, denn diesen Weg habe ich nicht ausprobiert:</a:t>
            </a:r>
          </a:p>
          <a:p>
            <a:r>
              <a:rPr i="0"/>
              <a:t>Mein Prüfwerkzeug bearbeitet jede Antwort nach. Es rechnet die Einstufung</a:t>
            </a:r>
          </a:p>
          <a:p>
            <a:r>
              <a:rPr i="0"/>
              <a:t>anhand einer Tabelle nach und entfernt Personennamen. Beides stand</a:t>
            </a:r>
          </a:p>
          <a:p>
            <a:r>
              <a:rPr i="0"/>
              <a:t>ursprünglich im Prompt, und beides hielt das Modell nicht zuverlässig ein —</a:t>
            </a:r>
          </a:p>
          <a:p>
            <a:r>
              <a:rPr i="0"/>
              <a:t>deshalb steht es heute im Programmcode. In einem fremden Assistenten gibt es</a:t>
            </a:r>
          </a:p>
          <a:p>
            <a:r>
              <a:rPr i="0"/>
              <a:t>diesen Code nicht. Was das praktisch bedeutet, muss der Pilot zeigen.</a:t>
            </a:r>
          </a:p>
          <a:p/>
          <a:p>
            <a:r>
              <a:rPr i="0"/>
              <a:t>### Weg 2: Als eigenes Prüfwerkzeug</a:t>
            </a:r>
          </a:p>
          <a:p/>
          <a:p>
            <a:r>
              <a:rPr i="0"/>
              <a:t>Der zweite Weg ist das Prüfwerkzeug, das ich gebaut habe. Dort fügt man den</a:t>
            </a:r>
          </a:p>
          <a:p>
            <a:r>
              <a:rPr i="0"/>
              <a:t>Entwurf ein — oder gibt bei einem vorhandenen Kurs nur die Nummer ein, dann</a:t>
            </a:r>
          </a:p>
          <a:p>
            <a:r>
              <a:rPr i="0"/>
              <a:t>holt es den Text selbst. Die Schnittstelle des Kursportals ist öffentlich, das</a:t>
            </a:r>
          </a:p>
          <a:p>
            <a:r>
              <a:rPr i="0"/>
              <a:t>kostet keinen Zugang; es braucht nur einen eigenen Server.</a:t>
            </a:r>
          </a:p>
          <a:p/>
          <a:p>
            <a:r>
              <a:rPr i="0"/>
              <a:t>### Rechts im Bild: ein Befund</a:t>
            </a:r>
          </a:p>
          <a:p/>
          <a:p>
            <a:r>
              <a:rPr i="0"/>
              <a:t>Rechts steht, was dabei herauskommt: ein Befund aus einem echten Durchlauf,</a:t>
            </a:r>
          </a:p>
          <a:p>
            <a:r>
              <a:rPr i="0"/>
              <a:t>dem Deutschkurs auf A2. Jeder Befund hat dieselben vier Teile: die Einstufung,</a:t>
            </a:r>
          </a:p>
          <a:p>
            <a:r>
              <a:rPr i="0"/>
              <a:t>die Regel, die wörtliche Stelle aus dem Text und einen konkreten Vorschlag.</a:t>
            </a:r>
          </a:p>
          <a:p>
            <a:r>
              <a:rPr i="0"/>
              <a:t>Dieser hier ist Pflicht, der Link heißt schlicht „hier“. Wer sich die Seite</a:t>
            </a:r>
          </a:p>
          <a:p>
            <a:r>
              <a:rPr i="0"/>
              <a:t>vorlesen lässt und von Link zu Link springt, hört nur „hier“. Der Vorschlag</a:t>
            </a:r>
          </a:p>
          <a:p>
            <a:r>
              <a:rPr i="0"/>
              <a:t>daneben ist kein Kommentar, sondern fertiger Text zum Übernehmen.</a:t>
            </a:r>
          </a:p>
          <a:p/>
          <a:p>
            <a:r>
              <a:rPr i="0"/>
              <a:t>### Hier die Vorführung</a:t>
            </a:r>
          </a:p>
          <a:p/>
          <a:p>
            <a:r>
              <a:rPr i="0"/>
              <a:t>Ich zeige euch das kurz live, an genau diesem Kurs.</a:t>
            </a:r>
          </a:p>
          <a:p/>
          <a:p>
            <a:r>
              <a:rPr i="0"/>
              <a:t>Das ist ein Prototyp, den ich für diese Arbeit gebaut habe. Er belegt, dass</a:t>
            </a:r>
          </a:p>
          <a:p>
            <a:r>
              <a:rPr i="0"/>
              <a:t>der Weg funktioniert, er ist keine fertige Anwendung.</a:t>
            </a:r>
          </a:p>
          <a:p/>
          <a:p>
            <a:r>
              <a:rPr i="0"/>
              <a:t>### Der Kasten unten</a:t>
            </a:r>
          </a:p>
          <a:p/>
          <a:p>
            <a:r>
              <a:rPr i="0"/>
              <a:t>Die Nachbemerkung unten ist kein Teil des Pilotprojekts. Man könnte die</a:t>
            </a:r>
          </a:p>
          <a:p>
            <a:r>
              <a:rPr i="0"/>
              <a:t>Prüfung ins Redaktionssystem selbst einbauen, dort, wo der Text entsteht. Nur</a:t>
            </a:r>
          </a:p>
          <a:p>
            <a:r>
              <a:rPr i="0"/>
              <a:t>wird das Portal von einem externen Dienstleister betreut, also hieße das:</a:t>
            </a:r>
          </a:p>
          <a:p>
            <a:r>
              <a:rPr i="0"/>
              <a:t>Auftrag, Budget, Vorlauf. Man kauft nichts, bevor man weiß, ob es wirkt.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Damit zum Change-Teil, und der beginnt mit den </a:t>
            </a:r>
            <a:r>
              <a:rPr b="1" i="0"/>
              <a:t>Stakeholdern</a:t>
            </a:r>
            <a:r>
              <a:rPr i="0"/>
              <a:t>. Die</a:t>
            </a:r>
          </a:p>
          <a:p>
            <a:r>
              <a:rPr b="1" i="0"/>
              <a:t>Einfluss-Betroffenheits-Matrix</a:t>
            </a:r>
            <a:r>
              <a:rPr i="0"/>
              <a:t> sortiert sie nach zwei Fragen: Wer ist</a:t>
            </a:r>
          </a:p>
          <a:p>
            <a:r>
              <a:rPr i="0"/>
              <a:t>betroffen, und wer hat Einfluss.</a:t>
            </a:r>
          </a:p>
          <a:p/>
          <a:p>
            <a:r>
              <a:rPr i="0"/>
              <a:t>### Oben rechts: Eng einbinden</a:t>
            </a:r>
          </a:p>
          <a:p/>
          <a:p>
            <a:r>
              <a:rPr i="0"/>
              <a:t>Wer entscheidet oder zustimmen muss.</a:t>
            </a:r>
          </a:p>
          <a:p/>
          <a:p>
            <a:r>
              <a:rPr b="1" i="0"/>
              <a:t>Der Direktor</a:t>
            </a:r>
            <a:r>
              <a:rPr i="0"/>
              <a:t> — laut Impressum persönlich für die redaktionellen Inhalte</a:t>
            </a:r>
          </a:p>
          <a:p>
            <a:r>
              <a:rPr i="0"/>
              <a:t>verantwortlich.</a:t>
            </a:r>
          </a:p>
          <a:p/>
          <a:p>
            <a:r>
              <a:rPr b="1" i="0"/>
              <a:t>Der Fachbereich des Pilotbereichs</a:t>
            </a:r>
            <a:r>
              <a:rPr i="0"/>
              <a:t> — er entscheidet über den Text. Und</a:t>
            </a:r>
          </a:p>
          <a:p>
            <a:r>
              <a:rPr i="0"/>
              <a:t>zwar nur dieser eine: Vier Fachbereiche gleichzeitig wären kein Pilot mehr.</a:t>
            </a:r>
          </a:p>
          <a:p/>
          <a:p>
            <a:r>
              <a:rPr b="1" i="0"/>
              <a:t>Die Redaktion des Programmhefts</a:t>
            </a:r>
            <a:r>
              <a:rPr i="0"/>
              <a:t> — prüft Texte für den Druck schon heute,</a:t>
            </a:r>
          </a:p>
          <a:p>
            <a:r>
              <a:rPr i="0"/>
              <a:t>weiß also, wie Textprüfung geht.</a:t>
            </a:r>
          </a:p>
          <a:p/>
          <a:p>
            <a:r>
              <a:rPr b="1" i="0"/>
              <a:t>Der Personalrat</a:t>
            </a:r>
            <a:r>
              <a:rPr i="0"/>
              <a:t> — hier ist die Einordnung eigentlich zu schwach. Sein</a:t>
            </a:r>
          </a:p>
          <a:p>
            <a:r>
              <a:rPr i="0"/>
              <a:t>Einfluss ist kein hoher, sondern ein </a:t>
            </a:r>
            <a:r>
              <a:rPr b="1" i="0"/>
              <a:t>sperrender</a:t>
            </a:r>
            <a:r>
              <a:rPr i="0"/>
              <a:t>: Die Einführung des</a:t>
            </a:r>
          </a:p>
          <a:p>
            <a:r>
              <a:rPr i="0"/>
              <a:t>Werkzeugs ist mitbestimmungspflichtig, sie braucht seine Zustimmung. Seine</a:t>
            </a:r>
          </a:p>
          <a:p>
            <a:r>
              <a:rPr i="0"/>
              <a:t>zwei von sechzehn Sitzen in der Betriebskommission sind daneben bedeutungslos.</a:t>
            </a:r>
          </a:p>
          <a:p/>
          <a:p>
            <a:r>
              <a:rPr i="0"/>
              <a:t>### Unten links: Informieren</a:t>
            </a:r>
          </a:p>
          <a:p/>
          <a:p>
            <a:r>
              <a:rPr i="0"/>
              <a:t>Nur dieser eine Fachbereich ist im Pilot — die anderen erfahren davon.</a:t>
            </a:r>
          </a:p>
          <a:p/>
          <a:p>
            <a:r>
              <a:rPr b="1" i="0"/>
              <a:t>Die drei übrigen Fachbereiche</a:t>
            </a:r>
            <a:r>
              <a:rPr i="0"/>
              <a:t> — sollen wissen, dass es läuft, und sehen,</a:t>
            </a:r>
          </a:p>
          <a:p>
            <a:r>
              <a:rPr i="0"/>
              <a:t>was herauskommt. Im Pilot sind sie nicht dabei.</a:t>
            </a:r>
          </a:p>
          <a:p/>
          <a:p>
            <a:r>
              <a:rPr i="0"/>
              <a:t>### Oben links: Beobachten</a:t>
            </a:r>
          </a:p>
          <a:p/>
          <a:p>
            <a:r>
              <a:rPr i="0"/>
              <a:t>Hoher Einfluss, aber mein Projekt verändert ihre Arbeit nicht.</a:t>
            </a:r>
          </a:p>
          <a:p/>
          <a:p>
            <a:r>
              <a:rPr b="1" i="0"/>
              <a:t>Die städtische IT</a:t>
            </a:r>
            <a:r>
              <a:rPr i="0"/>
              <a:t> — bleibt für die technische Seite zuständig.</a:t>
            </a:r>
          </a:p>
          <a:p/>
          <a:p>
            <a:r>
              <a:rPr b="1" i="0"/>
              <a:t>Advellence</a:t>
            </a:r>
            <a:r>
              <a:rPr i="0"/>
              <a:t> — die Schweizer Firma, die laut Impressum das Portal</a:t>
            </a:r>
          </a:p>
          <a:p>
            <a:r>
              <a:rPr i="0"/>
              <a:t>programmiert.</a:t>
            </a:r>
          </a:p>
          <a:p/>
          <a:p>
            <a:r>
              <a:rPr b="1" i="0"/>
              <a:t>Die Betriebskommission</a:t>
            </a:r>
            <a:r>
              <a:rPr i="0"/>
              <a:t> — Aufsichtsgremium.</a:t>
            </a:r>
          </a:p>
          <a:p/>
          <a:p>
            <a:r>
              <a:rPr b="1" i="0"/>
              <a:t>Der Volkshochschul-Verband</a:t>
            </a:r>
            <a:r>
              <a:rPr i="0"/>
              <a:t> — stellt den KI-Zugang, den ich nutze.</a:t>
            </a:r>
          </a:p>
          <a:p/>
          <a:p>
            <a:r>
              <a:rPr i="0"/>
              <a:t>### Unten rechts: Konsultieren</a:t>
            </a:r>
          </a:p>
          <a:p/>
          <a:p>
            <a:r>
              <a:rPr i="0"/>
              <a:t>Der Quadrant, der mich am meisten beschäftigt hat.</a:t>
            </a:r>
          </a:p>
          <a:p/>
          <a:p>
            <a:r>
              <a:rPr b="1" i="0"/>
              <a:t>Die Kursleitungen auf Honorarbasis</a:t>
            </a:r>
            <a:r>
              <a:rPr i="0"/>
              <a:t> — maximal betroffen, denn in der</a:t>
            </a:r>
          </a:p>
          <a:p>
            <a:r>
              <a:rPr i="0"/>
              <a:t>Branche schreiben sie viele dieser Texte. In keinem Gremium sitzen sie, und</a:t>
            </a:r>
          </a:p>
          <a:p>
            <a:r>
              <a:rPr i="0"/>
              <a:t>vorschreiben kann man ihnen als Honorarkräften nichts. Einen Kanal haben sie</a:t>
            </a:r>
          </a:p>
          <a:p>
            <a:r>
              <a:rPr i="0"/>
              <a:t>aber doch: Arbeitnehmerähnliche Personen gelten nach dem</a:t>
            </a:r>
          </a:p>
          <a:p>
            <a:r>
              <a:rPr i="0"/>
              <a:t>Personalvertretungsgesetz als Beschäftigte, der Personalrat vertritt sie mit.</a:t>
            </a:r>
          </a:p>
          <a:p/>
          <a:p>
            <a:r>
              <a:rPr b="1" i="0"/>
              <a:t>Die Teilnehmenden</a:t>
            </a:r>
            <a:r>
              <a:rPr i="0"/>
              <a:t> — besonders in den Deutschkursen und in der</a:t>
            </a:r>
          </a:p>
          <a:p>
            <a:r>
              <a:rPr i="0"/>
              <a:t>Grundbildung. Für sie ist das ganze Projekt gemacht, und sie haben keine</a:t>
            </a:r>
          </a:p>
          <a:p>
            <a:r>
              <a:rPr i="0"/>
              <a:t>Stimme, in keinem Gremium und in keinem Gesetz.</a:t>
            </a:r>
          </a:p>
          <a:p/>
          <a:p>
            <a:r>
              <a:rPr i="0"/>
              <a:t>Bei ihnen ist Beteiligung kein guter Stil, sondern das einzige Instrument, das</a:t>
            </a:r>
          </a:p>
          <a:p>
            <a:r>
              <a:rPr i="0"/>
              <a:t>überhaupt zur Verfügung steht. Was das praktisch heißt, steht auf der nächsten</a:t>
            </a:r>
          </a:p>
          <a:p>
            <a:r>
              <a:rPr i="0"/>
              <a:t>Folie.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Jetzt zum Widerstand. Der Unterricht nennt vier Ursachen: Unsicherheit,</a:t>
            </a:r>
          </a:p>
          <a:p>
            <a:r>
              <a:rPr i="0"/>
              <a:t>Verlustangst, fehlende Perspektive und Gewohnheit. Ich zeige für jede einen</a:t>
            </a:r>
          </a:p>
          <a:p>
            <a:r>
              <a:rPr i="0"/>
              <a:t>Fall, den es hier wirklich gibt.</a:t>
            </a:r>
          </a:p>
          <a:p/>
          <a:p>
            <a:r>
              <a:rPr i="0"/>
              <a:t>### Unsicherheit · im ganzen Haus</a:t>
            </a:r>
          </a:p>
          <a:p/>
          <a:p>
            <a:r>
              <a:rPr i="0"/>
              <a:t>Die Frage, die im ganzen Haus als Erstes kommt: Schreibt die</a:t>
            </a:r>
          </a:p>
          <a:p>
            <a:r>
              <a:rPr i="0"/>
              <a:t>KI jetzt unsere Texte? Nein. Sie schlägt vor, mehr nicht. Entschieden und</a:t>
            </a:r>
          </a:p>
          <a:p>
            <a:r>
              <a:rPr i="0"/>
              <a:t>veröffentlicht wird von Menschen. Das ist keine Beruhigung, sondern der</a:t>
            </a:r>
          </a:p>
          <a:p>
            <a:r>
              <a:rPr i="0"/>
              <a:t>Zuschnitt des Werkzeugs.</a:t>
            </a:r>
          </a:p>
          <a:p/>
          <a:p>
            <a:r>
              <a:rPr i="0"/>
              <a:t>### Verlustangst · Fachbereich</a:t>
            </a:r>
          </a:p>
          <a:p/>
          <a:p>
            <a:r>
              <a:rPr i="0"/>
              <a:t>Der einzige Einwand, der noch offen ist. Eine Kursbeschreibung ist selten von</a:t>
            </a:r>
          </a:p>
          <a:p>
            <a:r>
              <a:rPr i="0"/>
              <a:t>einer Hand: Der Anmeldehinweis, die Beschreibung der Niveaustufe — solche</a:t>
            </a:r>
          </a:p>
          <a:p>
            <a:r>
              <a:rPr i="0"/>
              <a:t>Bausteine stehen wortgleich in vielen Kursen und werden nicht in dem Bereich</a:t>
            </a:r>
          </a:p>
          <a:p>
            <a:r>
              <a:rPr i="0"/>
              <a:t>gepflegt, der den Kurs anbietet. Wer die Befunde bekommt, darf den Text also</a:t>
            </a:r>
          </a:p>
          <a:p>
            <a:r>
              <a:rPr i="0"/>
              <a:t>oft gar nicht ändern. Das ist keine Angst vor der Maschine, sondern die</a:t>
            </a:r>
          </a:p>
          <a:p>
            <a:r>
              <a:rPr i="0"/>
              <a:t>Aussicht, für etwas geradezustehen, das einem nicht gehört. Die Antwort ist</a:t>
            </a:r>
          </a:p>
          <a:p>
            <a:r>
              <a:rPr i="0"/>
              <a:t>deshalb keine Schulung, sondern eine Zuständigkeitsfrage — und die gehört vor</a:t>
            </a:r>
          </a:p>
          <a:p>
            <a:r>
              <a:rPr i="0"/>
              <a:t>den Pilot.</a:t>
            </a:r>
          </a:p>
          <a:p/>
          <a:p>
            <a:r>
              <a:rPr i="0"/>
              <a:t>### Fehlende Perspektive · Kursleitung</a:t>
            </a:r>
          </a:p>
          <a:p/>
          <a:p>
            <a:r>
              <a:rPr i="0"/>
              <a:t>Bei den Honorarkräften schärfer als bei allen</a:t>
            </a:r>
          </a:p>
          <a:p>
            <a:r>
              <a:rPr i="0"/>
              <a:t>anderen, weil ihre Abrechnungseinheit die Unterrichtsstunde ist. Textarbeit</a:t>
            </a:r>
          </a:p>
          <a:p>
            <a:r>
              <a:rPr i="0"/>
              <a:t>kommt darin nicht vor, der Einwand ist also berechtigt und gehört auch so</a:t>
            </a:r>
          </a:p>
          <a:p>
            <a:r>
              <a:rPr i="0"/>
              <a:t>beantwortet. Die Antwort ist der Zuschnitt: Geprüft wird im</a:t>
            </a:r>
          </a:p>
          <a:p>
            <a:r>
              <a:rPr i="0"/>
              <a:t>Fachbereich, an dem Text, der dort eingeht. Das schützt auch ihren Status:</a:t>
            </a:r>
          </a:p>
          <a:p>
            <a:r>
              <a:rPr i="0"/>
              <a:t>Verbindliche Regeln und ein Protokoll je Text wären genau die Merkmale, an</a:t>
            </a:r>
          </a:p>
          <a:p>
            <a:r>
              <a:rPr i="0"/>
              <a:t>denen sich eine Scheinselbständigkeit festmachen lässt.</a:t>
            </a:r>
          </a:p>
          <a:p/>
          <a:p>
            <a:r>
              <a:rPr i="0"/>
              <a:t>### Gewohnheit · Redaktion des Programmhefts</a:t>
            </a:r>
          </a:p>
          <a:p/>
          <a:p>
            <a:r>
              <a:rPr i="0"/>
              <a:t>Der Satz, der jedes Qualitätsprojekt begleitet: Es hat sich doch nie jemand</a:t>
            </a:r>
          </a:p>
          <a:p>
            <a:r>
              <a:rPr i="0"/>
              <a:t>beschwert. Und er stimmt vermutlich. Entscheidend ist, wie man darauf antwortet:</a:t>
            </a:r>
          </a:p>
          <a:p>
            <a:r>
              <a:rPr i="0"/>
              <a:t>Diese Redaktion prüft Texte im Haus als Einzige schon heute. Sie ist keine</a:t>
            </a:r>
          </a:p>
          <a:p>
            <a:r>
              <a:rPr i="0"/>
              <a:t>Bremse, sie ist der nächstliegende Verbündete, und so sollte man ihr auch</a:t>
            </a:r>
          </a:p>
          <a:p>
            <a:r>
              <a:rPr i="0"/>
              <a:t>begegnen. Der Punkt ist nur: Wer sich beschwert, hat den Text gelesen und</a:t>
            </a:r>
          </a:p>
          <a:p>
            <a:r>
              <a:rPr i="0"/>
              <a:t>verstanden. Die Menschen, um die es hier geht, fragen nicht nach und melden sich</a:t>
            </a:r>
          </a:p>
          <a:p>
            <a:r>
              <a:rPr i="0"/>
              <a:t>auch nicht an. Ihr Fehlen sieht von innen aus wie Zufriedenheit — dass es bisher</a:t>
            </a:r>
          </a:p>
          <a:p>
            <a:r>
              <a:rPr i="0"/>
              <a:t>niemand gesehen hat, ist deshalb kein Versäumnis, sondern liegt in der Sache.</a:t>
            </a:r>
          </a:p>
          <a:p/>
          <a:p>
            <a:r>
              <a:rPr i="0"/>
              <a:t>### Der Kasten unten</a:t>
            </a:r>
          </a:p>
          <a:p/>
          <a:p>
            <a:r>
              <a:rPr i="0"/>
              <a:t>Betroffene zu Beteiligten machen heißt hier: entscheiden, bevor geschult wird.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Der Zeitplan, drei Monate, drei Stränge, die neun Phasen aus der</a:t>
            </a:r>
          </a:p>
          <a:p>
            <a:r>
              <a:rPr i="0"/>
              <a:t>Aufgabenstellung als Überschrift jeder Zelle. Die Zellen könnt ihr mitlesen,</a:t>
            </a:r>
          </a:p>
          <a:p>
            <a:r>
              <a:rPr i="0"/>
              <a:t>ich hebe zwei Dinge heraus.</a:t>
            </a:r>
          </a:p>
          <a:p/>
          <a:p>
            <a:r>
              <a:rPr i="0"/>
              <a:t>### Monat 2, Strang Kommunikation: Training</a:t>
            </a:r>
          </a:p>
          <a:p/>
          <a:p>
            <a:r>
              <a:rPr i="0"/>
              <a:t>Erstens das Training im zweiten Monat. Das ist keine Kür, sondern Pflicht:</a:t>
            </a:r>
          </a:p>
          <a:p>
            <a:r>
              <a:rPr i="0"/>
              <a:t>Artikel vier der KI-Verordnung verlangt seit Februar zweitausendfünfundzwanzig</a:t>
            </a:r>
          </a:p>
          <a:p>
            <a:r>
              <a:rPr i="0"/>
              <a:t>ausreichende KI-Kompetenz, und zwar für das Personal und für alle, die im</a:t>
            </a:r>
          </a:p>
          <a:p>
            <a:r>
              <a:rPr i="0"/>
              <a:t>Auftrag mit Betrieb und Nutzung befasst sind. Deshalb steht in der Zelle nicht</a:t>
            </a:r>
          </a:p>
          <a:p>
            <a:r>
              <a:rPr i="0"/>
              <a:t>Personal, sondern alle, die bedienen. Wer nicht bedient, braucht die Schulung</a:t>
            </a:r>
          </a:p>
          <a:p>
            <a:r>
              <a:rPr i="0"/>
              <a:t>nicht — das ist der Grund, warum die Kursleitungen aus dieser Kette bleiben.</a:t>
            </a:r>
          </a:p>
          <a:p/>
          <a:p>
            <a:r>
              <a:rPr i="0"/>
              <a:t>### Strang Change: erst fragen, dann handeln</a:t>
            </a:r>
          </a:p>
          <a:p/>
          <a:p>
            <a:r>
              <a:rPr i="0"/>
              <a:t>Und zweitens die Reihenfolge im Change-Strang: erst fragen, dann handeln. Die</a:t>
            </a:r>
          </a:p>
          <a:p>
            <a:r>
              <a:rPr i="0"/>
              <a:t>Freigabe der Textbausteine steht deshalb im ersten Monat und nicht im zweiten,</a:t>
            </a:r>
          </a:p>
          <a:p>
            <a:r>
              <a:rPr i="0"/>
              <a:t>sonst läuft der Quick Win auf eine Zuständigkeit, die niemand hat.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Die ersten dreißig Tage, und das ist keine Aufzählung, sondern eine</a:t>
            </a:r>
          </a:p>
          <a:p>
            <a:r>
              <a:rPr i="0"/>
              <a:t>Reihenfolge: Jeder Schritt bedingt den nächsten.</a:t>
            </a:r>
          </a:p>
          <a:p/>
          <a:p>
            <a:r>
              <a:rPr i="0"/>
              <a:t>### Die vier Schritte</a:t>
            </a:r>
          </a:p>
          <a:p>
            <a:r>
              <a:rPr i="0"/>
              <a:t>Die Dienstvereinbarung zuerst, aus dem Grund von eben. Dann einen</a:t>
            </a:r>
          </a:p>
          <a:p>
            <a:r>
              <a:rPr i="0"/>
              <a:t>Programmbereich gewinnen, und zwar freiwillig — ein zugewiesener liefert kein</a:t>
            </a:r>
          </a:p>
          <a:p>
            <a:r>
              <a:rPr i="0"/>
              <a:t>belastbares Ergebnis, sondern nur Erfüllung. Dann die Freigabe der Bausteine.</a:t>
            </a:r>
          </a:p>
          <a:p>
            <a:r>
              <a:rPr i="0"/>
              <a:t>Und erst als viertes das Technische, den Assistenten anlegen. Es kostet nichts:</a:t>
            </a:r>
          </a:p>
          <a:p>
            <a:r>
              <a:rPr i="0"/>
              <a:t>kein Einkauf, keine neue Stelle, der KI-Zugang ist da.</a:t>
            </a:r>
          </a:p>
          <a:p/>
          <a:p>
            <a:r>
              <a:rPr i="0"/>
              <a:t>### Der Kasten unten: der dritte Schritt</a:t>
            </a:r>
          </a:p>
          <a:p/>
          <a:p>
            <a:r>
              <a:rPr i="0"/>
              <a:t>Der dritte Schritt ist der, den man am ehesten überspringt, und der teuerste.</a:t>
            </a:r>
          </a:p>
          <a:p>
            <a:r>
              <a:rPr i="0"/>
              <a:t>Lässt man ihn aus, liefert der Pilot eine Liste von Befunden, die im</a:t>
            </a:r>
          </a:p>
          <a:p>
            <a:r>
              <a:rPr i="0"/>
              <a:t>Pilotbereich niemand ändern darf — und das Werkzeug hat sich beim ersten</a:t>
            </a:r>
          </a:p>
          <a:p>
            <a:r>
              <a:rPr i="0"/>
              <a:t>Durchlauf selbst erledigt.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Und woran würde man merken, ob es gewirkt hat?</a:t>
            </a:r>
          </a:p>
          <a:p/>
          <a:p>
            <a:r>
              <a:rPr i="0"/>
              <a:t>### Die ersten drei Kennzahlen</a:t>
            </a:r>
          </a:p>
          <a:p/>
          <a:p>
            <a:r>
              <a:rPr i="0"/>
              <a:t>Vier Kennzahlen mit Ausgangswert und Ziel. Die Befundquote soll von</a:t>
            </a:r>
          </a:p>
          <a:p>
            <a:r>
              <a:rPr i="0"/>
              <a:t>siebenundfünfzig Prozent unter fünfundzwanzig fallen. Alle neuen Texte im</a:t>
            </a:r>
          </a:p>
          <a:p>
            <a:r>
              <a:rPr i="0"/>
              <a:t>Pilotbereich sollen geprüft sein. Und von den einunddreißig Texten für</a:t>
            </a:r>
          </a:p>
          <a:p>
            <a:r>
              <a:rPr i="0"/>
              <a:t>Deutschkurse auf A1 und A2, die heute alle Wörter über dem Niveau ihrer Leser</a:t>
            </a:r>
          </a:p>
          <a:p>
            <a:r>
              <a:rPr i="0"/>
              <a:t>enthalten, sollen höchstens noch zehn betroffen sein.</a:t>
            </a:r>
          </a:p>
          <a:p/>
          <a:p>
            <a:r>
              <a:rPr i="0"/>
              <a:t>### Die vierte Kennzahl: die Befragung</a:t>
            </a:r>
          </a:p>
          <a:p/>
          <a:p>
            <a:r>
              <a:rPr i="0"/>
              <a:t>Die vierte Zeile ist mir wichtig, weil die ersten drei nur den Text messen und</a:t>
            </a:r>
          </a:p>
          <a:p>
            <a:r>
              <a:rPr i="0"/>
              <a:t>nicht die Wirkung. Deshalb frage ich die Teilnehmenden selbst. Nicht über</a:t>
            </a:r>
          </a:p>
          <a:p>
            <a:r>
              <a:rPr i="0"/>
              <a:t>einen Fragebogen auf der Website, denn den füllt genau die Zielgruppe nicht</a:t>
            </a:r>
          </a:p>
          <a:p>
            <a:r>
              <a:rPr i="0"/>
              <a:t>aus, um die es geht. Sondern im Kurs, am Ende einer Stunde, in einfacher</a:t>
            </a:r>
          </a:p>
          <a:p>
            <a:r>
              <a:rPr i="0"/>
              <a:t>Sprache.</a:t>
            </a:r>
          </a:p>
          <a:p/>
          <a:p>
            <a:r>
              <a:rPr i="0"/>
              <a:t>Diese Befragung ist freiwillig und wird vergütet. Sonst wäre sie eine neue</a:t>
            </a:r>
          </a:p>
          <a:p>
            <a:r>
              <a:rPr i="0"/>
              <a:t>Aufgabe ohne Bezahlung, und das ist bei Honorarkräften genau das Problem von</a:t>
            </a:r>
          </a:p>
          <a:p>
            <a:r>
              <a:rPr i="0"/>
              <a:t>der Widerstandsfolie.</a:t>
            </a:r>
          </a:p>
          <a:p/>
          <a:p>
            <a:r>
              <a:rPr i="0"/>
              <a:t>### Letzte Spalte: womit gemessen wird</a:t>
            </a:r>
          </a:p>
          <a:p/>
          <a:p>
            <a:r>
              <a:rPr i="0"/>
              <a:t>In der letzten Spalte steht, womit gemessen wird. Die Nachmessung läuft mit</a:t>
            </a:r>
          </a:p>
          <a:p>
            <a:r>
              <a:rPr i="0"/>
              <a:t>demselben Skript wie die Ausgangsmessung, und dafür bleibt es unverändert</a:t>
            </a:r>
          </a:p>
          <a:p>
            <a:r>
              <a:rPr i="0"/>
              <a:t>liegen. Wäre es zwischendurch verbessert worden, wüsste man hinterher</a:t>
            </a:r>
          </a:p>
          <a:p>
            <a:r>
              <a:rPr i="0"/>
              <a:t>nicht, ob die Texte besser geworden sind oder nur die Messung anders.</a:t>
            </a:r>
          </a:p>
          <a:p/>
          <a:p>
            <a:r>
              <a:rPr i="0"/>
              <a:t>### Das Risiko unten</a:t>
            </a:r>
          </a:p>
          <a:p/>
          <a:p>
            <a:r>
              <a:rPr i="0"/>
              <a:t>Das Risiko steckt in den Kennzahlen selbst. Die ersten drei lassen sich</a:t>
            </a:r>
          </a:p>
          <a:p>
            <a:r>
              <a:rPr i="0"/>
              <a:t>erfüllen, ohne dass ein einziger Text besser wird: Wer lange Sätze teilt und</a:t>
            </a:r>
          </a:p>
          <a:p>
            <a:r>
              <a:rPr i="0"/>
              <a:t>schwere Wörter austauscht, drückt die Befundquote — ob der Text dadurch</a:t>
            </a:r>
          </a:p>
          <a:p>
            <a:r>
              <a:rPr i="0"/>
              <a:t>verständlicher geworden ist, hat dann noch niemand gefragt. Ein kürzerer Satz</a:t>
            </a:r>
          </a:p>
          <a:p>
            <a:r>
              <a:rPr i="0"/>
              <a:t>ist nicht automatisch ein verständlicherer.</a:t>
            </a:r>
          </a:p>
          <a:p/>
          <a:p>
            <a:r>
              <a:rPr i="0"/>
              <a:t>Genau dagegen steht die vierte Kennzahl. Sie fragt nicht den Text, sondern die</a:t>
            </a:r>
          </a:p>
          <a:p>
            <a:r>
              <a:rPr i="0"/>
              <a:t>Menschen, für die er geschrieben ist. Ohne sie misst der Pilot am Ende nur</a:t>
            </a:r>
          </a:p>
          <a:p>
            <a:r>
              <a:rPr i="0"/>
              <a:t>seinen eigenen Maßstab.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Was diese Arbeit ist</a:t>
            </a:r>
          </a:p>
          <a:p/>
          <a:p>
            <a:r>
              <a:rPr i="0"/>
              <a:t>Ich habe ein reales Unternehmen analysiert, einen Prozess gefunden, in dem</a:t>
            </a:r>
          </a:p>
          <a:p>
            <a:r>
              <a:rPr i="0"/>
              <a:t>niemand etwas falsch macht und trotzdem etwas fehlt, und ich habe den Zustand</a:t>
            </a:r>
          </a:p>
          <a:p>
            <a:r>
              <a:rPr i="0"/>
              <a:t>gemessen statt geschätzt.</a:t>
            </a:r>
          </a:p>
          <a:p/>
          <a:p>
            <a:r>
              <a:rPr i="0"/>
              <a:t>### Meine Lehre aus dem Projekt</a:t>
            </a:r>
          </a:p>
          <a:p/>
          <a:p>
            <a:r>
              <a:rPr i="0"/>
              <a:t>Der System-Prompt selbst ist an einem Nachmittag geschrieben. Das ist meine</a:t>
            </a:r>
          </a:p>
          <a:p>
            <a:r>
              <a:rPr i="0"/>
              <a:t>eigentliche Lehre aus diesem Projekt. Die Arbeit steckt in allem, was ihn</a:t>
            </a:r>
          </a:p>
          <a:p>
            <a:r>
              <a:rPr i="0"/>
              <a:t>möglich macht: zu wissen, für wen ein Text ist, zu wissen, was Pflicht ist und</a:t>
            </a:r>
          </a:p>
          <a:p>
            <a:r>
              <a:rPr i="0"/>
              <a:t>was Anspruch, und einen Weg zu finden, auf dem die Menschen, die diese Texte</a:t>
            </a:r>
          </a:p>
          <a:p>
            <a:r>
              <a:rPr i="0"/>
              <a:t>schreiben, das Werkzeug nicht als Kontrolle erleben.</a:t>
            </a:r>
          </a:p>
          <a:p/>
          <a:p>
            <a:r>
              <a:rPr i="0"/>
              <a:t>### Der Link auf der Folie</a:t>
            </a:r>
          </a:p>
          <a:p/>
          <a:p>
            <a:r>
              <a:rPr i="0"/>
              <a:t>Danke für die Aufmerksamkeit. Die Adresse steht hier auf der Folie, dort läuft</a:t>
            </a:r>
          </a:p>
          <a:p>
            <a:r>
              <a:rPr i="0"/>
              <a:t>der Prototyp weiter — mit dem Prompt in allen Fassungen und den Läufen, die ihr</a:t>
            </a:r>
          </a:p>
          <a:p>
            <a:r>
              <a:rPr i="0"/>
              <a:t>gesehen habt. Jetzt gerne eure Fragen.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